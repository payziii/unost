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8"/>
  </p:notesMasterIdLst>
  <p:sldIdLst>
    <p:sldId id="339" r:id="rId2"/>
    <p:sldId id="374" r:id="rId3"/>
    <p:sldId id="358" r:id="rId4"/>
    <p:sldId id="309" r:id="rId5"/>
    <p:sldId id="362" r:id="rId6"/>
    <p:sldId id="361" r:id="rId7"/>
    <p:sldId id="346" r:id="rId8"/>
    <p:sldId id="365" r:id="rId9"/>
    <p:sldId id="348" r:id="rId10"/>
    <p:sldId id="350" r:id="rId11"/>
    <p:sldId id="351" r:id="rId12"/>
    <p:sldId id="352" r:id="rId13"/>
    <p:sldId id="353" r:id="rId14"/>
    <p:sldId id="354" r:id="rId15"/>
    <p:sldId id="356" r:id="rId16"/>
    <p:sldId id="375" r:id="rId17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Светлый стиль 3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1397" autoAdjust="0"/>
    <p:restoredTop sz="94660"/>
  </p:normalViewPr>
  <p:slideViewPr>
    <p:cSldViewPr>
      <p:cViewPr>
        <p:scale>
          <a:sx n="73" d="100"/>
          <a:sy n="73" d="100"/>
        </p:scale>
        <p:origin x="-5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DF562C46-85CF-410A-A8A9-966E0236F2AD}" type="datetimeFigureOut">
              <a:rPr lang="ru-RU"/>
              <a:pPr>
                <a:defRPr/>
              </a:pPr>
              <a:t>13.04.2020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CB1579E6-8B66-4A8C-9763-B413C25CC9C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6096094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/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2FA2FC-E674-450E-AA77-7D0E3F2863F6}" type="datetimeFigureOut">
              <a:rPr lang="ru-RU"/>
              <a:pPr>
                <a:defRPr/>
              </a:pPr>
              <a:t>13.04.2020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A80B92-111F-4C83-A078-295069715A5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8AA89-F3BE-40CB-9AA1-C739C60A51F6}" type="datetimeFigureOut">
              <a:rPr lang="ru-RU"/>
              <a:pPr>
                <a:defRPr/>
              </a:pPr>
              <a:t>13.04.2020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B6E0F8-6464-4F90-B506-CE3C07C7873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6"/>
          <p:cNvSpPr/>
          <p:nvPr/>
        </p:nvSpPr>
        <p:spPr>
          <a:xfrm>
            <a:off x="4495800" y="3924300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Oval 7"/>
          <p:cNvSpPr/>
          <p:nvPr/>
        </p:nvSpPr>
        <p:spPr>
          <a:xfrm>
            <a:off x="4695825" y="3924300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Oval 8"/>
          <p:cNvSpPr/>
          <p:nvPr/>
        </p:nvSpPr>
        <p:spPr>
          <a:xfrm>
            <a:off x="4297363" y="3924300"/>
            <a:ext cx="84137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7CF2A-7300-4B83-A7E8-C668EDE6988C}" type="datetimeFigureOut">
              <a:rPr lang="ru-RU"/>
              <a:pPr>
                <a:defRPr/>
              </a:pPr>
              <a:t>13.04.2020</a:t>
            </a:fld>
            <a:endParaRPr lang="ru-RU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10279F-08C4-43F0-8143-39015C15F8F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C8AE79-ED74-4B06-A281-07EBF43AADF7}" type="datetimeFigureOut">
              <a:rPr lang="ru-RU"/>
              <a:pPr>
                <a:defRPr/>
              </a:pPr>
              <a:t>13.04.2020</a:t>
            </a:fld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36B98C-C37D-4B5B-BE72-B1A09C7B54F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BE5275-18FB-4071-9010-CE4890F995CA}" type="datetimeFigureOut">
              <a:rPr lang="ru-RU"/>
              <a:pPr>
                <a:defRPr/>
              </a:pPr>
              <a:t>13.04.2020</a:t>
            </a:fld>
            <a:endParaRPr lang="ru-RU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8222BE-167A-4690-94A6-0C23FCEDC01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F8BA86-A007-4AC6-BF3D-51A899743A9D}" type="datetimeFigureOut">
              <a:rPr lang="ru-RU"/>
              <a:pPr>
                <a:defRPr/>
              </a:pPr>
              <a:t>13.04.2020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421FE-B6FC-4629-BA7E-5B4FAA0B37E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9D43B5-D734-49CE-97F3-6BD565CB04B0}" type="datetimeFigureOut">
              <a:rPr lang="ru-RU"/>
              <a:pPr>
                <a:defRPr/>
              </a:pPr>
              <a:t>13.04.2020</a:t>
            </a:fld>
            <a:endParaRPr lang="ru-RU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FDA597-A55C-4739-ABCD-704CC87E8AD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370323-7BCE-4560-9DDD-53EFA1A94EDA}" type="datetimeFigureOut">
              <a:rPr lang="ru-RU"/>
              <a:pPr>
                <a:defRPr/>
              </a:pPr>
              <a:t>13.04.2020</a:t>
            </a:fld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E243A2-12DF-41AF-94E8-3B4E0FB95B4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 smtClean="0"/>
              <a:t>Вставка рисунка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28FB60-D7B3-4C21-A062-C59324CCFBFE}" type="datetimeFigureOut">
              <a:rPr lang="ru-RU"/>
              <a:pPr>
                <a:defRPr/>
              </a:pPr>
              <a:t>13.04.2020</a:t>
            </a:fld>
            <a:endParaRPr lang="ru-R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D156B5-7E95-47CF-864B-B6AEF71BF26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0A6F2B-0DCF-4926-BBE4-2A4820A47DFE}" type="datetimeFigureOut">
              <a:rPr lang="ru-RU"/>
              <a:pPr>
                <a:defRPr/>
              </a:pPr>
              <a:t>13.04.2020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24EC83-074C-48D9-9A03-754BED3051A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B2A695-6E5D-4FF4-9F9A-579A65622123}" type="datetimeFigureOut">
              <a:rPr lang="ru-RU"/>
              <a:pPr>
                <a:defRPr/>
              </a:pPr>
              <a:t>13.04.2020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AE05AF-69EB-4BBD-9D2B-5E906185139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Заголовок, текст и кли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10588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301625" y="1676400"/>
            <a:ext cx="4194175" cy="442277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Клип 3"/>
          <p:cNvSpPr>
            <a:spLocks noGrp="1"/>
          </p:cNvSpPr>
          <p:nvPr>
            <p:ph type="clipArt" sz="half" idx="2"/>
          </p:nvPr>
        </p:nvSpPr>
        <p:spPr>
          <a:xfrm>
            <a:off x="4648200" y="1676400"/>
            <a:ext cx="4194175" cy="4422775"/>
          </a:xfrm>
        </p:spPr>
        <p:txBody>
          <a:bodyPr/>
          <a:lstStyle/>
          <a:p>
            <a:pPr lvl="0"/>
            <a:endParaRPr lang="ru-RU" noProof="0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0CB3A9-76F2-45B1-8226-C77FF7D7B30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905291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2700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cs typeface="+mn-cs"/>
              </a:defRPr>
            </a:lvl1pPr>
          </a:lstStyle>
          <a:p>
            <a:pPr>
              <a:defRPr/>
            </a:pPr>
            <a:fld id="{F6844244-317B-432A-B5AB-D1CDADB4EFB6}" type="datetimeFigureOut">
              <a:rPr lang="ru-RU"/>
              <a:pPr>
                <a:defRPr/>
              </a:pPr>
              <a:t>13.04.2020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8813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925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cs typeface="+mn-cs"/>
              </a:defRPr>
            </a:lvl1pPr>
          </a:lstStyle>
          <a:p>
            <a:pPr>
              <a:defRPr/>
            </a:pPr>
            <a:fld id="{639B3C48-7535-4559-A764-E753CA016AF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Oval 6"/>
          <p:cNvSpPr/>
          <p:nvPr/>
        </p:nvSpPr>
        <p:spPr>
          <a:xfrm>
            <a:off x="8458200" y="6499225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69913" y="6499225"/>
            <a:ext cx="84137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6" r:id="rId2"/>
    <p:sldLayoutId id="2147483708" r:id="rId3"/>
    <p:sldLayoutId id="2147483705" r:id="rId4"/>
    <p:sldLayoutId id="2147483704" r:id="rId5"/>
    <p:sldLayoutId id="2147483703" r:id="rId6"/>
    <p:sldLayoutId id="2147483702" r:id="rId7"/>
    <p:sldLayoutId id="2147483701" r:id="rId8"/>
    <p:sldLayoutId id="2147483700" r:id="rId9"/>
    <p:sldLayoutId id="2147483699" r:id="rId10"/>
    <p:sldLayoutId id="2147483698" r:id="rId11"/>
    <p:sldLayoutId id="2147483709" r:id="rId12"/>
  </p:sldLayoutIdLst>
  <p:txStyles>
    <p:titleStyle>
      <a:lvl1pPr algn="ctr" rtl="0" fontAlgn="base">
        <a:lnSpc>
          <a:spcPts val="5800"/>
        </a:lnSpc>
        <a:spcBef>
          <a:spcPct val="0"/>
        </a:spcBef>
        <a:spcAft>
          <a:spcPct val="0"/>
        </a:spcAft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  <a:lvl2pPr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2pPr>
      <a:lvl3pPr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3pPr>
      <a:lvl4pPr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4pPr>
      <a:lvl5pPr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5pPr>
      <a:lvl6pPr marL="4572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6pPr>
      <a:lvl7pPr marL="9144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7pPr>
      <a:lvl8pPr marL="13716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8pPr>
      <a:lvl9pPr marL="18288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rgbClr val="7F7F7F"/>
          </a:solidFill>
          <a:latin typeface="+mj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Courier New" pitchFamily="49" charset="0"/>
        <a:buChar char="o"/>
        <a:defRPr sz="1600" kern="1200">
          <a:solidFill>
            <a:srgbClr val="7F7F7F"/>
          </a:solidFill>
          <a:latin typeface="+mj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1600" kern="1200">
          <a:solidFill>
            <a:srgbClr val="7F7F7F"/>
          </a:solidFill>
          <a:latin typeface="+mj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Courier New" pitchFamily="49" charset="0"/>
        <a:buChar char="o"/>
        <a:defRPr sz="1600" kern="1200">
          <a:solidFill>
            <a:srgbClr val="7F7F7F"/>
          </a:solidFill>
          <a:latin typeface="+mj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1600" kern="1200">
          <a:solidFill>
            <a:srgbClr val="7F7F7F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Классный час</a:t>
            </a:r>
            <a:endParaRPr lang="ru-RU" dirty="0"/>
          </a:p>
        </p:txBody>
      </p:sp>
      <p:sp>
        <p:nvSpPr>
          <p:cNvPr id="6" name="Содержимое 5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900634"/>
          </a:xfrm>
        </p:spPr>
        <p:txBody>
          <a:bodyPr/>
          <a:lstStyle/>
          <a:p>
            <a:pPr algn="ctr">
              <a:buNone/>
            </a:pPr>
            <a:r>
              <a:rPr lang="ru-RU" sz="4800" dirty="0" smtClean="0">
                <a:solidFill>
                  <a:schemeClr val="accent1">
                    <a:lumMod val="75000"/>
                  </a:schemeClr>
                </a:solidFill>
              </a:rPr>
              <a:t>Ф</a:t>
            </a:r>
            <a:r>
              <a:rPr lang="ru-RU" sz="4000" dirty="0" smtClean="0">
                <a:solidFill>
                  <a:schemeClr val="accent1">
                    <a:lumMod val="75000"/>
                  </a:schemeClr>
                </a:solidFill>
              </a:rPr>
              <a:t>инансовая грамотность   для выпускников 9-х классов.</a:t>
            </a:r>
            <a:r>
              <a:rPr lang="ru-RU" sz="3200" dirty="0" smtClean="0">
                <a:solidFill>
                  <a:schemeClr val="accent1">
                    <a:lumMod val="75000"/>
                  </a:schemeClr>
                </a:solidFill>
              </a:rPr>
              <a:t>       К</a:t>
            </a:r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лассные руководители                                                      </a:t>
            </a:r>
            <a:r>
              <a:rPr lang="ru-RU" sz="3200" b="1" dirty="0" err="1" smtClean="0">
                <a:solidFill>
                  <a:schemeClr val="accent1">
                    <a:lumMod val="75000"/>
                  </a:schemeClr>
                </a:solidFill>
              </a:rPr>
              <a:t>л</a:t>
            </a:r>
            <a:r>
              <a:rPr lang="ru-RU" b="1" dirty="0" err="1" smtClean="0">
                <a:solidFill>
                  <a:schemeClr val="accent1">
                    <a:lumMod val="75000"/>
                  </a:schemeClr>
                </a:solidFill>
              </a:rPr>
              <a:t>утфуллаев</a:t>
            </a:r>
            <a:r>
              <a:rPr lang="ru-RU" b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ru-RU" sz="3200" b="1" dirty="0" smtClean="0">
                <a:solidFill>
                  <a:schemeClr val="accent1">
                    <a:lumMod val="75000"/>
                  </a:schemeClr>
                </a:solidFill>
              </a:rPr>
              <a:t>м.а.                                              Т</a:t>
            </a:r>
            <a:r>
              <a:rPr lang="ru-RU" b="1" dirty="0" smtClean="0">
                <a:solidFill>
                  <a:schemeClr val="accent1">
                    <a:lumMod val="75000"/>
                  </a:schemeClr>
                </a:solidFill>
              </a:rPr>
              <a:t>арасов </a:t>
            </a:r>
            <a:r>
              <a:rPr lang="ru-RU" sz="3200" b="1" dirty="0" smtClean="0">
                <a:solidFill>
                  <a:schemeClr val="accent1">
                    <a:lumMod val="75000"/>
                  </a:schemeClr>
                </a:solidFill>
              </a:rPr>
              <a:t>и.в.        </a:t>
            </a:r>
            <a:endParaRPr lang="ru-RU" sz="4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6324637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867"/>
            <a:ext cx="9144000" cy="6759870"/>
          </a:xfrm>
        </p:spPr>
      </p:pic>
    </p:spTree>
    <p:extLst>
      <p:ext uri="{BB962C8B-B14F-4D97-AF65-F5344CB8AC3E}">
        <p14:creationId xmlns="" xmlns:p14="http://schemas.microsoft.com/office/powerpoint/2010/main" val="1584852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Объект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5720" y="6858000"/>
            <a:ext cx="2318307" cy="45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0" name="Rectangle 5"/>
          <p:cNvSpPr>
            <a:spLocks noChangeArrowheads="1"/>
          </p:cNvSpPr>
          <p:nvPr/>
        </p:nvSpPr>
        <p:spPr bwMode="auto">
          <a:xfrm>
            <a:off x="3023394" y="3435730"/>
            <a:ext cx="1655762" cy="6477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2800" dirty="0"/>
              <a:t>УЧЁТ</a:t>
            </a:r>
          </a:p>
        </p:txBody>
      </p:sp>
      <p:sp>
        <p:nvSpPr>
          <p:cNvPr id="17411" name="Rectangle 6"/>
          <p:cNvSpPr>
            <a:spLocks noChangeArrowheads="1"/>
          </p:cNvSpPr>
          <p:nvPr/>
        </p:nvSpPr>
        <p:spPr bwMode="auto">
          <a:xfrm>
            <a:off x="4787900" y="3860800"/>
            <a:ext cx="2160588" cy="64928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2400"/>
              <a:t>ЭКОНОМИЯ</a:t>
            </a:r>
          </a:p>
        </p:txBody>
      </p:sp>
      <p:sp>
        <p:nvSpPr>
          <p:cNvPr id="17412" name="Rectangle 7"/>
          <p:cNvSpPr>
            <a:spLocks noChangeArrowheads="1"/>
          </p:cNvSpPr>
          <p:nvPr/>
        </p:nvSpPr>
        <p:spPr bwMode="auto">
          <a:xfrm>
            <a:off x="269874" y="3045892"/>
            <a:ext cx="2627313" cy="6477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2400" dirty="0"/>
              <a:t>ПЛАНИРОВАНИЕ</a:t>
            </a:r>
          </a:p>
        </p:txBody>
      </p:sp>
      <p:sp>
        <p:nvSpPr>
          <p:cNvPr id="17413" name="Rectangle 8"/>
          <p:cNvSpPr>
            <a:spLocks noChangeArrowheads="1"/>
          </p:cNvSpPr>
          <p:nvPr/>
        </p:nvSpPr>
        <p:spPr bwMode="auto">
          <a:xfrm>
            <a:off x="6480175" y="2852738"/>
            <a:ext cx="2663825" cy="7699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2400"/>
              <a:t>СБЕРЕЖЕНИЯ</a:t>
            </a:r>
          </a:p>
        </p:txBody>
      </p:sp>
      <p:sp>
        <p:nvSpPr>
          <p:cNvPr id="17414" name="Line 9"/>
          <p:cNvSpPr>
            <a:spLocks noChangeShapeType="1"/>
          </p:cNvSpPr>
          <p:nvPr/>
        </p:nvSpPr>
        <p:spPr bwMode="auto">
          <a:xfrm flipH="1">
            <a:off x="1403350" y="1412875"/>
            <a:ext cx="360363" cy="1439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7415" name="Line 10"/>
          <p:cNvSpPr>
            <a:spLocks noChangeShapeType="1"/>
          </p:cNvSpPr>
          <p:nvPr/>
        </p:nvSpPr>
        <p:spPr bwMode="auto">
          <a:xfrm flipH="1">
            <a:off x="3851275" y="1412875"/>
            <a:ext cx="73025" cy="1728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7416" name="Line 11"/>
          <p:cNvSpPr>
            <a:spLocks noChangeShapeType="1"/>
          </p:cNvSpPr>
          <p:nvPr/>
        </p:nvSpPr>
        <p:spPr bwMode="auto">
          <a:xfrm>
            <a:off x="5435600" y="1484313"/>
            <a:ext cx="288925" cy="2089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7417" name="Line 12"/>
          <p:cNvSpPr>
            <a:spLocks noChangeShapeType="1"/>
          </p:cNvSpPr>
          <p:nvPr/>
        </p:nvSpPr>
        <p:spPr bwMode="auto">
          <a:xfrm>
            <a:off x="7380288" y="1557338"/>
            <a:ext cx="144462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7418" name="Rectangle 4"/>
          <p:cNvSpPr>
            <a:spLocks noChangeArrowheads="1"/>
          </p:cNvSpPr>
          <p:nvPr/>
        </p:nvSpPr>
        <p:spPr bwMode="auto">
          <a:xfrm>
            <a:off x="467544" y="412336"/>
            <a:ext cx="7993062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4000" dirty="0">
                <a:solidFill>
                  <a:srgbClr val="0035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Как снизить расходы бюджета?</a:t>
            </a:r>
          </a:p>
        </p:txBody>
      </p:sp>
      <p:pic>
        <p:nvPicPr>
          <p:cNvPr id="17419" name="Picture 2" descr="C:\Users\1\Desktop\44758_144742009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75" y="4652963"/>
            <a:ext cx="4032250" cy="196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1862847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5" name="Объект 6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20638"/>
            <a:ext cx="2617788" cy="3856037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98763" y="0"/>
            <a:ext cx="5888037" cy="1773238"/>
          </a:xfrm>
        </p:spPr>
        <p:txBody>
          <a:bodyPr/>
          <a:lstStyle/>
          <a:p>
            <a:pPr algn="l" fontAlgn="auto">
              <a:spcAft>
                <a:spcPts val="0"/>
              </a:spcAft>
              <a:defRPr/>
            </a:pPr>
            <a:r>
              <a:rPr lang="ru-RU" sz="4800" dirty="0" smtClean="0"/>
              <a:t>Цели определяют направление</a:t>
            </a:r>
            <a:endParaRPr lang="ru-RU" sz="4800" dirty="0"/>
          </a:p>
        </p:txBody>
      </p:sp>
      <p:sp>
        <p:nvSpPr>
          <p:cNvPr id="21507" name="TextBox 4"/>
          <p:cNvSpPr txBox="1">
            <a:spLocks noChangeArrowheads="1"/>
          </p:cNvSpPr>
          <p:nvPr/>
        </p:nvSpPr>
        <p:spPr bwMode="auto">
          <a:xfrm>
            <a:off x="1701800" y="2041525"/>
            <a:ext cx="6985000" cy="230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600">
                <a:latin typeface="Calibri Light" pitchFamily="34" charset="0"/>
              </a:rPr>
              <a:t>«Если вы не знаете, куда хотите попасть, то вам и неважно, в какую сторону идти…»</a:t>
            </a:r>
          </a:p>
          <a:p>
            <a:endParaRPr lang="ru-RU">
              <a:latin typeface="Calibri Light" pitchFamily="34" charset="0"/>
            </a:endParaRPr>
          </a:p>
          <a:p>
            <a:pPr algn="r"/>
            <a:r>
              <a:rPr lang="ru-RU" i="1">
                <a:latin typeface="Calibri Light" pitchFamily="34" charset="0"/>
              </a:rPr>
              <a:t>«Алиса в стране чудес», Льюис Кэрролл</a:t>
            </a:r>
          </a:p>
        </p:txBody>
      </p:sp>
      <p:pic>
        <p:nvPicPr>
          <p:cNvPr id="21508" name="Рисунок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03575" y="4508500"/>
            <a:ext cx="3048000" cy="20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Объект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flipV="1">
            <a:off x="149740" y="6689650"/>
            <a:ext cx="2318307" cy="16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7283152" cy="14843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u-RU" dirty="0" smtClean="0"/>
              <a:t>Контролируй расходы</a:t>
            </a:r>
            <a:endParaRPr lang="ru-RU" dirty="0"/>
          </a:p>
        </p:txBody>
      </p:sp>
      <p:pic>
        <p:nvPicPr>
          <p:cNvPr id="24578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915378" y="1600200"/>
            <a:ext cx="7113005" cy="5178544"/>
          </a:xfrm>
        </p:spPr>
      </p:pic>
      <p:pic>
        <p:nvPicPr>
          <p:cNvPr id="4" name="Объект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76256" y="-45719"/>
            <a:ext cx="2102283" cy="45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719461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6563072" cy="16002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u-RU" sz="4400" dirty="0" smtClean="0"/>
              <a:t>Сбережения и резервный фонд</a:t>
            </a:r>
            <a:endParaRPr lang="ru-RU" sz="4400" dirty="0"/>
          </a:p>
        </p:txBody>
      </p:sp>
      <p:sp>
        <p:nvSpPr>
          <p:cNvPr id="25602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7067550" cy="4525963"/>
          </a:xfrm>
        </p:spPr>
        <p:txBody>
          <a:bodyPr/>
          <a:lstStyle/>
          <a:p>
            <a:pPr marL="0" indent="0">
              <a:buFont typeface="Arial" charset="0"/>
              <a:buNone/>
            </a:pPr>
            <a:endParaRPr lang="ru-RU" smtClean="0"/>
          </a:p>
          <a:p>
            <a:pPr marL="0" indent="0">
              <a:buFont typeface="Arial" charset="0"/>
              <a:buNone/>
            </a:pPr>
            <a:r>
              <a:rPr lang="ru-RU" smtClean="0">
                <a:solidFill>
                  <a:schemeClr val="tx1"/>
                </a:solidFill>
              </a:rPr>
              <a:t>Очень важно иметь финансовую «подушку безопасности» – </a:t>
            </a:r>
            <a:r>
              <a:rPr lang="ru-RU" b="1" smtClean="0">
                <a:solidFill>
                  <a:schemeClr val="tx1"/>
                </a:solidFill>
              </a:rPr>
              <a:t>резервный фонд</a:t>
            </a:r>
            <a:r>
              <a:rPr lang="ru-RU" smtClean="0">
                <a:solidFill>
                  <a:schemeClr val="tx1"/>
                </a:solidFill>
              </a:rPr>
              <a:t>, который позволит в случае незапланированных трат или внезапного исчезновения источника дохода не занимать деньги под высокие проценты, а справиться </a:t>
            </a:r>
            <a:r>
              <a:rPr lang="ru-RU" b="1" smtClean="0">
                <a:solidFill>
                  <a:schemeClr val="tx1"/>
                </a:solidFill>
              </a:rPr>
              <a:t>своими силами</a:t>
            </a:r>
            <a:r>
              <a:rPr lang="ru-RU" smtClean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25603" name="Рисунок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27763" y="4797425"/>
            <a:ext cx="1828800" cy="162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Объект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60232" y="-45718"/>
            <a:ext cx="2318307" cy="45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763192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1493889"/>
            <a:ext cx="8363563" cy="1576175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ru-RU" sz="1800" dirty="0" smtClean="0">
                <a:solidFill>
                  <a:schemeClr val="bg2">
                    <a:lumMod val="25000"/>
                  </a:schemeClr>
                </a:solidFill>
              </a:rPr>
              <a:t/>
            </a:r>
            <a:br>
              <a:rPr lang="ru-RU" sz="1800" dirty="0" smtClean="0">
                <a:solidFill>
                  <a:schemeClr val="bg2">
                    <a:lumMod val="25000"/>
                  </a:schemeClr>
                </a:solidFill>
              </a:rPr>
            </a:br>
            <a:r>
              <a:rPr lang="ru-RU" sz="1800" dirty="0" smtClean="0">
                <a:solidFill>
                  <a:schemeClr val="bg2">
                    <a:lumMod val="25000"/>
                  </a:schemeClr>
                </a:solidFill>
              </a:rPr>
              <a:t/>
            </a:r>
            <a:br>
              <a:rPr lang="ru-RU" sz="1800" dirty="0" smtClean="0">
                <a:solidFill>
                  <a:schemeClr val="bg2">
                    <a:lumMod val="25000"/>
                  </a:schemeClr>
                </a:solidFill>
              </a:rPr>
            </a:br>
            <a:r>
              <a:rPr lang="ru-RU" sz="1800" b="1" dirty="0" smtClean="0">
                <a:solidFill>
                  <a:schemeClr val="bg2">
                    <a:lumMod val="25000"/>
                  </a:schemeClr>
                </a:solidFill>
              </a:rPr>
              <a:t>НАЛОГИ </a:t>
            </a:r>
            <a:r>
              <a:rPr lang="ru-RU" sz="1800" b="1" dirty="0">
                <a:solidFill>
                  <a:schemeClr val="bg2">
                    <a:lumMod val="25000"/>
                  </a:schemeClr>
                </a:solidFill>
              </a:rPr>
              <a:t>- ЭТО ОБЯЗАТЕЛЬНЫЕ ПЛАТЕЖИ,     ВЗИМАЕМЫЕ ГОСУДАРСТВОМ С ФИЗИЧЕСКИХ И ЮРИДИЧЕСКИХ ЛИЦ В ГОСУДАРСТВЕННЫЕ И МЕСТНЫЕ </a:t>
            </a:r>
            <a:r>
              <a:rPr lang="ru-RU" sz="1800" b="1" dirty="0" smtClean="0">
                <a:solidFill>
                  <a:schemeClr val="bg2">
                    <a:lumMod val="25000"/>
                  </a:schemeClr>
                </a:solidFill>
              </a:rPr>
              <a:t>БЮДЖЕТЫ.</a:t>
            </a:r>
            <a:r>
              <a:rPr lang="ru-RU" sz="1800" b="1" dirty="0">
                <a:solidFill>
                  <a:schemeClr val="bg2">
                    <a:lumMod val="25000"/>
                  </a:schemeClr>
                </a:solidFill>
              </a:rPr>
              <a:t/>
            </a:r>
            <a:br>
              <a:rPr lang="ru-RU" sz="1800" b="1" dirty="0">
                <a:solidFill>
                  <a:schemeClr val="bg2">
                    <a:lumMod val="25000"/>
                  </a:schemeClr>
                </a:solidFill>
              </a:rPr>
            </a:br>
            <a:endParaRPr lang="ru-RU" sz="18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4594714" y="3166596"/>
            <a:ext cx="1847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endParaRPr lang="ru-RU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48" y="113810"/>
            <a:ext cx="1293544" cy="128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9" name="Скругленный прямоугольник 48"/>
          <p:cNvSpPr/>
          <p:nvPr/>
        </p:nvSpPr>
        <p:spPr>
          <a:xfrm>
            <a:off x="287016" y="3070066"/>
            <a:ext cx="8856984" cy="3530086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354013">
              <a:buFont typeface="Wingdings" panose="05000000000000000000" pitchFamily="2" charset="2"/>
              <a:buChar char="v"/>
            </a:pPr>
            <a:r>
              <a:rPr lang="ru-RU" sz="3200" b="1" dirty="0" smtClean="0">
                <a:solidFill>
                  <a:srgbClr val="002060"/>
                </a:solidFill>
              </a:rPr>
              <a:t>являются </a:t>
            </a:r>
            <a:r>
              <a:rPr lang="ru-RU" sz="3200" b="1" dirty="0">
                <a:solidFill>
                  <a:srgbClr val="002060"/>
                </a:solidFill>
              </a:rPr>
              <a:t>основным источником поступлений в государственную казну</a:t>
            </a:r>
            <a:r>
              <a:rPr lang="ru-RU" sz="3200" b="1" dirty="0" smtClean="0">
                <a:solidFill>
                  <a:srgbClr val="002060"/>
                </a:solidFill>
              </a:rPr>
              <a:t>;   </a:t>
            </a:r>
          </a:p>
          <a:p>
            <a:pPr indent="354013">
              <a:buFont typeface="Wingdings" panose="05000000000000000000" pitchFamily="2" charset="2"/>
              <a:buChar char="v"/>
              <a:tabLst>
                <a:tab pos="88900" algn="l"/>
              </a:tabLst>
            </a:pPr>
            <a:r>
              <a:rPr lang="ru-RU" sz="3200" b="1" dirty="0" smtClean="0">
                <a:solidFill>
                  <a:srgbClr val="002060"/>
                </a:solidFill>
              </a:rPr>
              <a:t>обеспечивают </a:t>
            </a:r>
            <a:r>
              <a:rPr lang="ru-RU" sz="3200" b="1" dirty="0">
                <a:solidFill>
                  <a:srgbClr val="002060"/>
                </a:solidFill>
              </a:rPr>
              <a:t>распределение и перераспределение национального </a:t>
            </a:r>
            <a:r>
              <a:rPr lang="ru-RU" sz="3200" b="1" dirty="0" smtClean="0">
                <a:solidFill>
                  <a:srgbClr val="002060"/>
                </a:solidFill>
              </a:rPr>
              <a:t>        дохода в </a:t>
            </a:r>
            <a:r>
              <a:rPr lang="ru-RU" sz="3200" b="1" dirty="0">
                <a:solidFill>
                  <a:srgbClr val="002060"/>
                </a:solidFill>
              </a:rPr>
              <a:t>соответствии с экономическими и социальными задачами</a:t>
            </a:r>
            <a:r>
              <a:rPr lang="ru-RU" sz="2000" b="1" dirty="0">
                <a:solidFill>
                  <a:srgbClr val="002060"/>
                </a:solidFill>
              </a:rPr>
              <a:t/>
            </a:r>
            <a:br>
              <a:rPr lang="ru-RU" sz="2000" b="1" dirty="0">
                <a:solidFill>
                  <a:srgbClr val="002060"/>
                </a:solidFill>
              </a:rPr>
            </a:br>
            <a:endParaRPr lang="ru-RU" sz="2000" b="1" dirty="0">
              <a:solidFill>
                <a:srgbClr val="002060"/>
              </a:solidFill>
            </a:endParaRPr>
          </a:p>
        </p:txBody>
      </p:sp>
      <p:pic>
        <p:nvPicPr>
          <p:cNvPr id="6" name="Объект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232" y="-45718"/>
            <a:ext cx="2318307" cy="45719"/>
          </a:xfrm>
        </p:spPr>
      </p:pic>
    </p:spTree>
    <p:extLst>
      <p:ext uri="{BB962C8B-B14F-4D97-AF65-F5344CB8AC3E}">
        <p14:creationId xmlns="" xmlns:p14="http://schemas.microsoft.com/office/powerpoint/2010/main" val="2493644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42123" y="116632"/>
            <a:ext cx="8229600" cy="105152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3200" dirty="0" smtClean="0"/>
              <a:t/>
            </a:r>
            <a:br>
              <a:rPr lang="ru-RU" sz="3200" dirty="0" smtClean="0"/>
            </a:br>
            <a:r>
              <a:rPr lang="ru-RU" sz="3200" dirty="0" smtClean="0"/>
              <a:t>Налоги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42123" y="1412776"/>
            <a:ext cx="8229600" cy="5445224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Определите, какие налоги относятся к федеральным(Ф), какие - к региональным (Р), а какие – к местным (М) </a:t>
            </a:r>
          </a:p>
          <a:p>
            <a:r>
              <a:rPr lang="ru-RU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Налог 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добавленную стоимость (НДС);  </a:t>
            </a:r>
          </a:p>
          <a:p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Земельный налог</a:t>
            </a:r>
          </a:p>
          <a:p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Налог на игорный бизнес</a:t>
            </a:r>
          </a:p>
          <a:p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Акцизный налог;  </a:t>
            </a:r>
          </a:p>
          <a:p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Налог на доходы физических лиц;  </a:t>
            </a:r>
          </a:p>
          <a:p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Налог на имущество организаций</a:t>
            </a:r>
          </a:p>
          <a:p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Налог на имущество физических лиц.  </a:t>
            </a:r>
          </a:p>
          <a:p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Налог на прибыль предприятий;  </a:t>
            </a:r>
          </a:p>
          <a:p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Налог на добычу полезных ископаемых;  </a:t>
            </a:r>
          </a:p>
          <a:p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Транспортный налог</a:t>
            </a:r>
          </a:p>
          <a:p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Водный налог;  </a:t>
            </a:r>
          </a:p>
          <a:p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Государственная пошлина   </a:t>
            </a:r>
          </a:p>
          <a:p>
            <a:endParaRPr lang="ru-RU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Объект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81742" y="-45719"/>
            <a:ext cx="1896797" cy="45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4176635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FFFF00"/>
                </a:solidFill>
              </a:rPr>
              <a:t>           Классификация налогов по уровню бюджета</a:t>
            </a:r>
            <a:endParaRPr lang="ru-RU" sz="3600" b="1" dirty="0">
              <a:solidFill>
                <a:srgbClr val="FFFF0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285" y="404664"/>
            <a:ext cx="1292225" cy="128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Скругленный прямоугольник 6"/>
          <p:cNvSpPr/>
          <p:nvPr/>
        </p:nvSpPr>
        <p:spPr>
          <a:xfrm>
            <a:off x="328284" y="2061182"/>
            <a:ext cx="3163595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 smtClean="0">
                <a:solidFill>
                  <a:srgbClr val="FF0000"/>
                </a:solidFill>
              </a:rPr>
              <a:t>Федеральные</a:t>
            </a:r>
            <a:endParaRPr lang="ru-RU" sz="3200" b="1" dirty="0">
              <a:solidFill>
                <a:srgbClr val="FF0000"/>
              </a:solidFill>
            </a:endParaRPr>
          </a:p>
        </p:txBody>
      </p:sp>
      <p:sp>
        <p:nvSpPr>
          <p:cNvPr id="12" name="Стрелка вправо с вырезом 11"/>
          <p:cNvSpPr/>
          <p:nvPr/>
        </p:nvSpPr>
        <p:spPr>
          <a:xfrm>
            <a:off x="3352621" y="2213480"/>
            <a:ext cx="787331" cy="48463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4155637" y="1792117"/>
            <a:ext cx="4824536" cy="494925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Налог  на  прибыль организаций.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4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Налоги  на  доходы физических </a:t>
            </a:r>
            <a:r>
              <a:rPr lang="ru-RU" sz="24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лиц.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Налог  на  добавленную  стоимость</a:t>
            </a:r>
            <a:r>
              <a:rPr lang="ru-RU" sz="24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Акцизы</a:t>
            </a:r>
            <a:r>
              <a:rPr lang="ru-RU" sz="24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4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Налоги на покупку  валюты.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4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Налог на операции с ценными бумагами.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4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Налог на наследуемое и даримое  имущество и др.</a:t>
            </a:r>
            <a:endParaRPr lang="ru-RU" sz="2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5604" name="Picture 4" descr="http://im0-tub-ru.yandex.net/i?id=2e4e36f0416ed37a1b5f7e424c355b04-30-144&amp;n=2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507" y="3429000"/>
            <a:ext cx="3717053" cy="252028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336372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ru-RU" sz="3600" dirty="0" smtClean="0">
                <a:solidFill>
                  <a:srgbClr val="FFFF00"/>
                </a:solidFill>
              </a:rPr>
              <a:t>          </a:t>
            </a:r>
            <a:r>
              <a:rPr lang="ru-RU" sz="3600" b="1" dirty="0" smtClean="0">
                <a:solidFill>
                  <a:srgbClr val="FFFF00"/>
                </a:solidFill>
              </a:rPr>
              <a:t>Классификация налогов по уровню бюджета</a:t>
            </a:r>
            <a:endParaRPr lang="ru-RU" sz="3600" b="1" dirty="0">
              <a:solidFill>
                <a:srgbClr val="FFFF0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285" y="404664"/>
            <a:ext cx="1292225" cy="128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Скругленный прямоугольник 6"/>
          <p:cNvSpPr/>
          <p:nvPr/>
        </p:nvSpPr>
        <p:spPr>
          <a:xfrm>
            <a:off x="421938" y="2072881"/>
            <a:ext cx="3429982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 smtClean="0">
                <a:solidFill>
                  <a:srgbClr val="FF0066"/>
                </a:solidFill>
              </a:rPr>
              <a:t>Региональные</a:t>
            </a:r>
            <a:endParaRPr lang="ru-RU" sz="3200" b="1" dirty="0">
              <a:solidFill>
                <a:srgbClr val="FF0066"/>
              </a:solidFill>
            </a:endParaRPr>
          </a:p>
        </p:txBody>
      </p:sp>
      <p:sp>
        <p:nvSpPr>
          <p:cNvPr id="12" name="Стрелка вправо с вырезом 11"/>
          <p:cNvSpPr/>
          <p:nvPr/>
        </p:nvSpPr>
        <p:spPr>
          <a:xfrm>
            <a:off x="4049831" y="2276066"/>
            <a:ext cx="978408" cy="48463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5420530" y="1412776"/>
            <a:ext cx="3384376" cy="5184576"/>
          </a:xfrm>
          <a:prstGeom prst="roundRect">
            <a:avLst/>
          </a:prstGeom>
          <a:solidFill>
            <a:srgbClr val="DDE2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800" b="1" dirty="0" smtClean="0">
                <a:solidFill>
                  <a:srgbClr val="B91796"/>
                </a:solidFill>
              </a:rPr>
              <a:t>Налог на имущество организаций.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800" b="1" dirty="0" smtClean="0">
                <a:solidFill>
                  <a:srgbClr val="B91796"/>
                </a:solidFill>
              </a:rPr>
              <a:t>Налог на  недвижимость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800" b="1" dirty="0" smtClean="0">
                <a:solidFill>
                  <a:srgbClr val="B91796"/>
                </a:solidFill>
              </a:rPr>
              <a:t>Налог с продаж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800" b="1" dirty="0" smtClean="0">
                <a:solidFill>
                  <a:srgbClr val="B91796"/>
                </a:solidFill>
              </a:rPr>
              <a:t>Транспортный налог.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800" b="1" dirty="0" smtClean="0">
                <a:solidFill>
                  <a:srgbClr val="B91796"/>
                </a:solidFill>
              </a:rPr>
              <a:t>Лесной налог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800" b="1" dirty="0" smtClean="0">
                <a:solidFill>
                  <a:srgbClr val="B91796"/>
                </a:solidFill>
              </a:rPr>
              <a:t>Другие.</a:t>
            </a:r>
            <a:endParaRPr lang="ru-RU" sz="2800" b="1" dirty="0">
              <a:solidFill>
                <a:srgbClr val="B91796"/>
              </a:solidFill>
            </a:endParaRPr>
          </a:p>
        </p:txBody>
      </p:sp>
      <p:pic>
        <p:nvPicPr>
          <p:cNvPr id="23559" name="Picture 7" descr="http://im3-tub-ru.yandex.net/i?id=924d3019f884436d50a3498b5059b999-82-144&amp;n=2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5" y="3558615"/>
            <a:ext cx="4224468" cy="253468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973183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ru-RU" sz="3600" dirty="0" smtClean="0">
                <a:solidFill>
                  <a:srgbClr val="FFFF00"/>
                </a:solidFill>
              </a:rPr>
              <a:t>           </a:t>
            </a:r>
            <a:r>
              <a:rPr lang="ru-RU" sz="3600" b="1" dirty="0" smtClean="0">
                <a:solidFill>
                  <a:srgbClr val="FFFF00"/>
                </a:solidFill>
              </a:rPr>
              <a:t>Классификация налогов по уровню бюджета</a:t>
            </a:r>
            <a:endParaRPr lang="ru-RU" sz="3600" b="1" dirty="0">
              <a:solidFill>
                <a:srgbClr val="FFFF0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285" y="404664"/>
            <a:ext cx="1292225" cy="128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Скругленный прямоугольник 6"/>
          <p:cNvSpPr/>
          <p:nvPr/>
        </p:nvSpPr>
        <p:spPr>
          <a:xfrm>
            <a:off x="328285" y="2061182"/>
            <a:ext cx="3024336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 smtClean="0">
                <a:solidFill>
                  <a:srgbClr val="FF0066"/>
                </a:solidFill>
              </a:rPr>
              <a:t>Местные</a:t>
            </a:r>
            <a:endParaRPr lang="ru-RU" sz="3200" b="1" dirty="0">
              <a:solidFill>
                <a:srgbClr val="FF0066"/>
              </a:solidFill>
            </a:endParaRPr>
          </a:p>
        </p:txBody>
      </p:sp>
      <p:sp>
        <p:nvSpPr>
          <p:cNvPr id="12" name="Стрелка вправо с вырезом 11"/>
          <p:cNvSpPr/>
          <p:nvPr/>
        </p:nvSpPr>
        <p:spPr>
          <a:xfrm>
            <a:off x="4049831" y="2276066"/>
            <a:ext cx="978408" cy="48463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21" name="Скругленный прямоугольник 20"/>
          <p:cNvSpPr/>
          <p:nvPr/>
        </p:nvSpPr>
        <p:spPr>
          <a:xfrm>
            <a:off x="5364088" y="1812414"/>
            <a:ext cx="3616803" cy="4824536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400" b="1" dirty="0" smtClean="0">
                <a:solidFill>
                  <a:srgbClr val="008000"/>
                </a:solidFill>
              </a:rPr>
              <a:t>Земельный налог.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400" b="1" dirty="0" smtClean="0">
                <a:solidFill>
                  <a:srgbClr val="008000"/>
                </a:solidFill>
              </a:rPr>
              <a:t>Налог на имущество физических лиц.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400" b="1" dirty="0" smtClean="0">
                <a:solidFill>
                  <a:srgbClr val="008000"/>
                </a:solidFill>
              </a:rPr>
              <a:t> Налог на дарение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400" b="1" dirty="0" smtClean="0">
                <a:solidFill>
                  <a:srgbClr val="008000"/>
                </a:solidFill>
              </a:rPr>
              <a:t>Курортный сбор.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400" b="1" dirty="0" smtClean="0">
                <a:solidFill>
                  <a:srgbClr val="008000"/>
                </a:solidFill>
              </a:rPr>
              <a:t>Налог на рекламу.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400" b="1" dirty="0" smtClean="0">
                <a:solidFill>
                  <a:srgbClr val="008000"/>
                </a:solidFill>
              </a:rPr>
              <a:t>Налог на содержание жилого фонда.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400" b="1" dirty="0" smtClean="0">
                <a:solidFill>
                  <a:srgbClr val="008000"/>
                </a:solidFill>
              </a:rPr>
              <a:t>Сбор за право  торговать.</a:t>
            </a:r>
            <a:endParaRPr lang="ru-RU" sz="2400" b="1" dirty="0">
              <a:solidFill>
                <a:srgbClr val="008000"/>
              </a:solidFill>
            </a:endParaRPr>
          </a:p>
        </p:txBody>
      </p:sp>
      <p:pic>
        <p:nvPicPr>
          <p:cNvPr id="22529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200400"/>
            <a:ext cx="2446219" cy="16671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6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2621" y="4954165"/>
            <a:ext cx="2283531" cy="142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8" name="Picture 10" descr="http://im1-tub-ru.yandex.net/i?id=a624ecd7bff5d81f79405b01de0d3e14-127-144&amp;n=2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777" y="5593048"/>
            <a:ext cx="2019379" cy="122413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9" name="Picture 1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050750"/>
            <a:ext cx="2213145" cy="1459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41" name="Picture 13" descr="http://im0-tub-ru.yandex.net/i?id=9870c289254f13ac501f3c789026233b-88-144&amp;n=2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3506" y="3614322"/>
            <a:ext cx="2152650" cy="14287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048718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0"/>
            <a:ext cx="8258204" cy="1600200"/>
          </a:xfrm>
        </p:spPr>
        <p:txBody>
          <a:bodyPr/>
          <a:lstStyle/>
          <a:p>
            <a:pPr eaLnBrk="1" hangingPunct="1">
              <a:defRPr/>
            </a:pPr>
            <a:r>
              <a:rPr lang="ru-RU" dirty="0" smtClean="0"/>
              <a:t>Потребители и их права.</a:t>
            </a:r>
          </a:p>
        </p:txBody>
      </p:sp>
      <p:sp>
        <p:nvSpPr>
          <p:cNvPr id="6041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048000" y="1988840"/>
            <a:ext cx="6096000" cy="4640560"/>
          </a:xfrm>
        </p:spPr>
        <p:txBody>
          <a:bodyPr/>
          <a:lstStyle/>
          <a:p>
            <a:pPr eaLnBrk="1" hangingPunct="1">
              <a:defRPr/>
            </a:pP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Защита прав потребителей – понятие, недавно вошедшее в нашу действительность. Работы по ее правовому и организационному обеспечению выдвинули ее число основных направлений социально – экономической политики государства.</a:t>
            </a:r>
          </a:p>
        </p:txBody>
      </p:sp>
      <p:pic>
        <p:nvPicPr>
          <p:cNvPr id="60421" name="Picture 5" descr="AG00004_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885950"/>
            <a:ext cx="32004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6820941" y="-2891"/>
            <a:ext cx="2316681" cy="4571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54219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0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0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8" dur="80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9" dur="80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80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8" grpId="0"/>
      <p:bldP spid="60419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8" name="Rectangle 18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142844" y="990600"/>
            <a:ext cx="9001156" cy="5153044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endParaRPr lang="ru-RU" b="1" dirty="0" smtClean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ru-RU" sz="3600" dirty="0" smtClean="0"/>
              <a:t>Безопасность товаров и услуг при: </a:t>
            </a:r>
          </a:p>
          <a:p>
            <a:pPr eaLnBrk="1" hangingPunct="1">
              <a:defRPr/>
            </a:pPr>
            <a:r>
              <a:rPr lang="ru-RU" sz="3600" dirty="0" smtClean="0"/>
              <a:t>Использовании; </a:t>
            </a:r>
          </a:p>
          <a:p>
            <a:pPr eaLnBrk="1" hangingPunct="1">
              <a:defRPr/>
            </a:pPr>
            <a:r>
              <a:rPr lang="ru-RU" sz="3600" dirty="0" smtClean="0"/>
              <a:t>Хранении;</a:t>
            </a:r>
          </a:p>
          <a:p>
            <a:pPr eaLnBrk="1" hangingPunct="1">
              <a:defRPr/>
            </a:pPr>
            <a:r>
              <a:rPr lang="ru-RU" sz="3600" dirty="0" smtClean="0"/>
              <a:t>Транспортировки;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ru-RU" dirty="0" smtClean="0"/>
              <a:t>Не только для жизни, здоровья, имущества, но и для окружающей среды.</a:t>
            </a:r>
          </a:p>
        </p:txBody>
      </p:sp>
      <p:pic>
        <p:nvPicPr>
          <p:cNvPr id="61460" name="Picture 20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2057400"/>
            <a:ext cx="2362200" cy="157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61" name="Picture 21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1200" y="3200400"/>
            <a:ext cx="2438400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63" name="Rectangle 23"/>
          <p:cNvSpPr>
            <a:spLocks noChangeArrowheads="1"/>
          </p:cNvSpPr>
          <p:nvPr/>
        </p:nvSpPr>
        <p:spPr bwMode="auto">
          <a:xfrm>
            <a:off x="428596" y="304800"/>
            <a:ext cx="8429684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40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Потребитель имеет право на: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6820941" y="-2891"/>
            <a:ext cx="2316681" cy="4571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658252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1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14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14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14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1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1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1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900" decel="100000" fill="hold"/>
                                        <p:tgtEl>
                                          <p:spTgt spid="61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1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1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1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900" decel="100000" fill="hold"/>
                                        <p:tgtEl>
                                          <p:spTgt spid="61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1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1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1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900" decel="100000" fill="hold"/>
                                        <p:tgtEl>
                                          <p:spTgt spid="61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1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1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1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900" decel="100000" fill="hold"/>
                                        <p:tgtEl>
                                          <p:spTgt spid="61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1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61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1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900" decel="100000" fill="hold"/>
                                        <p:tgtEl>
                                          <p:spTgt spid="61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1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1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1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58" grpId="0" build="p"/>
      <p:bldP spid="6146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04800" y="228600"/>
            <a:ext cx="6324600" cy="1981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ru-RU" sz="2400" smtClean="0">
                <a:solidFill>
                  <a:schemeClr val="bg2">
                    <a:lumMod val="25000"/>
                  </a:schemeClr>
                </a:solidFill>
              </a:rPr>
              <a:t>Потребитель в праве обменять непродовольственный товар надлежащего качества на аналогичный товар у продавца, у которого этот товар не подошел по форме, габаритам или по иным причинам. </a:t>
            </a:r>
          </a:p>
        </p:txBody>
      </p:sp>
      <p:pic>
        <p:nvPicPr>
          <p:cNvPr id="80900" name="Picture 4" descr="AG00222_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057400"/>
            <a:ext cx="2438400" cy="229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0901" name="Rectangle 5"/>
          <p:cNvSpPr>
            <a:spLocks noChangeArrowheads="1"/>
          </p:cNvSpPr>
          <p:nvPr/>
        </p:nvSpPr>
        <p:spPr bwMode="auto">
          <a:xfrm>
            <a:off x="533400" y="4495800"/>
            <a:ext cx="5105400" cy="1800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ru-RU" sz="2800" b="1">
                <a:effectLst>
                  <a:outerShdw blurRad="38100" dist="38100" dir="2700000" algn="tl">
                    <a:srgbClr val="FFFFFF"/>
                  </a:outerShdw>
                </a:effectLst>
              </a:rPr>
              <a:t>Срок обмена</a:t>
            </a:r>
            <a:r>
              <a:rPr lang="ru-RU" sz="2800">
                <a:effectLst>
                  <a:outerShdw blurRad="38100" dist="38100" dir="2700000" algn="tl">
                    <a:srgbClr val="FFFFFF"/>
                  </a:outerShdw>
                </a:effectLst>
              </a:rPr>
              <a:t> товара ненадлежащего качества 14 дней, не считая дня покупки товара.</a:t>
            </a:r>
          </a:p>
        </p:txBody>
      </p:sp>
      <p:pic>
        <p:nvPicPr>
          <p:cNvPr id="80902" name="Picture 6" descr="J0076132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4419600"/>
            <a:ext cx="2133600" cy="147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0908" name="Rectangle 12"/>
          <p:cNvSpPr>
            <a:spLocks noChangeArrowheads="1"/>
          </p:cNvSpPr>
          <p:nvPr/>
        </p:nvSpPr>
        <p:spPr bwMode="auto">
          <a:xfrm>
            <a:off x="2895600" y="2359025"/>
            <a:ext cx="6019800" cy="15525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ru-RU" sz="2400">
                <a:effectLst>
                  <a:outerShdw blurRad="38100" dist="38100" dir="2700000" algn="tl">
                    <a:srgbClr val="FFFFFF"/>
                  </a:outerShdw>
                </a:effectLst>
              </a:rPr>
              <a:t>В случае, если аналогичный товар отсутствует в продаже на день обращения потребителя к продавцу, он в праве потребовать возврат денежной суммы за уплаченный товар.</a:t>
            </a:r>
            <a:r>
              <a:rPr lang="ru-RU" sz="2400"/>
              <a:t> 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6820941" y="-2891"/>
            <a:ext cx="2316681" cy="4571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452431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09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09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0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09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09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build="p"/>
      <p:bldP spid="80901" grpId="0"/>
      <p:bldP spid="8090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209800" y="5486400"/>
            <a:ext cx="6438900" cy="685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ru-RU" sz="1200" b="1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ru-RU" sz="1200" b="1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ru-RU" sz="1200" b="1" smtClean="0"/>
          </a:p>
        </p:txBody>
      </p:sp>
      <p:pic>
        <p:nvPicPr>
          <p:cNvPr id="82949" name="Picture 5" descr="J0095753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374900"/>
            <a:ext cx="457200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950" name="Picture 6" descr="J0095753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2935288"/>
            <a:ext cx="457200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951" name="Picture 7" descr="J0095753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3517900"/>
            <a:ext cx="457200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952" name="Picture 8" descr="J0095753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4051300"/>
            <a:ext cx="457200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953" name="Picture 9" descr="J0095753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4584700"/>
            <a:ext cx="457200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955" name="Rectangle 11"/>
          <p:cNvSpPr>
            <a:spLocks noChangeArrowheads="1"/>
          </p:cNvSpPr>
          <p:nvPr/>
        </p:nvSpPr>
        <p:spPr bwMode="auto">
          <a:xfrm>
            <a:off x="457200" y="533400"/>
            <a:ext cx="7067128" cy="1244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ru-RU" sz="28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Обмен непродовольственного товара надлежащего качества производится, если указанный товар:</a:t>
            </a:r>
            <a:endParaRPr lang="ru-RU" dirty="0"/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304800" y="1731963"/>
            <a:ext cx="5768975" cy="579437"/>
            <a:chOff x="192" y="1091"/>
            <a:chExt cx="3634" cy="365"/>
          </a:xfrm>
        </p:grpSpPr>
        <p:pic>
          <p:nvPicPr>
            <p:cNvPr id="7183" name="Picture 4" descr="J0095753"/>
            <p:cNvPicPr>
              <a:picLocks noChangeAspect="1" noChangeArrowheads="1" noCrop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92" y="1160"/>
              <a:ext cx="288" cy="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2956" name="Rectangle 12"/>
            <p:cNvSpPr>
              <a:spLocks noChangeArrowheads="1"/>
            </p:cNvSpPr>
            <p:nvPr/>
          </p:nvSpPr>
          <p:spPr bwMode="auto">
            <a:xfrm>
              <a:off x="624" y="1091"/>
              <a:ext cx="3202" cy="3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ru-RU" sz="3200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не был в употреблении,</a:t>
              </a:r>
            </a:p>
          </p:txBody>
        </p:sp>
      </p:grpSp>
      <p:sp>
        <p:nvSpPr>
          <p:cNvPr id="82958" name="Rectangle 14"/>
          <p:cNvSpPr>
            <a:spLocks noChangeArrowheads="1"/>
          </p:cNvSpPr>
          <p:nvPr/>
        </p:nvSpPr>
        <p:spPr bwMode="auto">
          <a:xfrm>
            <a:off x="990600" y="2286000"/>
            <a:ext cx="6283325" cy="530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ru-RU" sz="3200" b="1">
                <a:effectLst>
                  <a:outerShdw blurRad="38100" dist="38100" dir="2700000" algn="tl">
                    <a:srgbClr val="FFFFFF"/>
                  </a:outerShdw>
                </a:effectLst>
              </a:rPr>
              <a:t>сохранены его товарный вид,</a:t>
            </a:r>
          </a:p>
        </p:txBody>
      </p:sp>
      <p:sp>
        <p:nvSpPr>
          <p:cNvPr id="82959" name="Rectangle 15"/>
          <p:cNvSpPr>
            <a:spLocks noChangeArrowheads="1"/>
          </p:cNvSpPr>
          <p:nvPr/>
        </p:nvSpPr>
        <p:spPr bwMode="auto">
          <a:xfrm>
            <a:off x="990600" y="2849563"/>
            <a:ext cx="5780088" cy="5794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3200" b="1">
                <a:effectLst>
                  <a:outerShdw blurRad="38100" dist="38100" dir="2700000" algn="tl">
                    <a:srgbClr val="FFFFFF"/>
                  </a:outerShdw>
                </a:effectLst>
              </a:rPr>
              <a:t>потребительские свойства,</a:t>
            </a:r>
          </a:p>
        </p:txBody>
      </p:sp>
      <p:sp>
        <p:nvSpPr>
          <p:cNvPr id="82960" name="Rectangle 16"/>
          <p:cNvSpPr>
            <a:spLocks noChangeArrowheads="1"/>
          </p:cNvSpPr>
          <p:nvPr/>
        </p:nvSpPr>
        <p:spPr bwMode="auto">
          <a:xfrm>
            <a:off x="990600" y="3429000"/>
            <a:ext cx="1947863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3200" b="1">
                <a:effectLst>
                  <a:outerShdw blurRad="38100" dist="38100" dir="2700000" algn="tl">
                    <a:srgbClr val="FFFFFF"/>
                  </a:outerShdw>
                </a:effectLst>
              </a:rPr>
              <a:t>пломбы,</a:t>
            </a:r>
          </a:p>
        </p:txBody>
      </p:sp>
      <p:sp>
        <p:nvSpPr>
          <p:cNvPr id="82961" name="Rectangle 17"/>
          <p:cNvSpPr>
            <a:spLocks noChangeArrowheads="1"/>
          </p:cNvSpPr>
          <p:nvPr/>
        </p:nvSpPr>
        <p:spPr bwMode="auto">
          <a:xfrm>
            <a:off x="990600" y="3962400"/>
            <a:ext cx="4562475" cy="530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ru-RU" sz="3200" b="1">
                <a:effectLst>
                  <a:outerShdw blurRad="38100" dist="38100" dir="2700000" algn="tl">
                    <a:srgbClr val="FFFFFF"/>
                  </a:outerShdw>
                </a:effectLst>
              </a:rPr>
              <a:t>фабричные ярлыки,</a:t>
            </a:r>
            <a:r>
              <a:rPr lang="ru-RU" sz="3200"/>
              <a:t>  </a:t>
            </a:r>
          </a:p>
        </p:txBody>
      </p:sp>
      <p:sp>
        <p:nvSpPr>
          <p:cNvPr id="82962" name="Rectangle 18"/>
          <p:cNvSpPr>
            <a:spLocks noChangeArrowheads="1"/>
          </p:cNvSpPr>
          <p:nvPr/>
        </p:nvSpPr>
        <p:spPr bwMode="auto">
          <a:xfrm>
            <a:off x="914400" y="4419600"/>
            <a:ext cx="6934200" cy="12636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ru-RU" sz="3200" b="1">
                <a:effectLst>
                  <a:outerShdw blurRad="38100" dist="38100" dir="2700000" algn="tl">
                    <a:srgbClr val="FFFFFF"/>
                  </a:outerShdw>
                </a:effectLst>
              </a:rPr>
              <a:t>товарный чек, выданные потребителю вместе с проданным указанным товаром.</a:t>
            </a:r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6820941" y="-2891"/>
            <a:ext cx="2316681" cy="4571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543531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29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29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29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29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29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29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29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29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29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29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29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29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29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29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29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29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29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829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29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29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29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829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55" grpId="0"/>
      <p:bldP spid="82958" grpId="0"/>
      <p:bldP spid="82959" grpId="0"/>
      <p:bldP spid="82960" grpId="0"/>
      <p:bldP spid="82961" grpId="0"/>
      <p:bldP spid="8296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286124"/>
          </a:xfrm>
        </p:spPr>
        <p:txBody>
          <a:bodyPr/>
          <a:lstStyle/>
          <a:p>
            <a:r>
              <a:rPr lang="ru-RU" dirty="0" smtClean="0"/>
              <a:t>Спасибо за внимание</a:t>
            </a:r>
            <a:endParaRPr lang="ru-RU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сполнительная">
  <a:themeElements>
    <a:clrScheme name="Исполнительная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1556</TotalTime>
  <Words>489</Words>
  <Application>Microsoft Office PowerPoint</Application>
  <PresentationFormat>Экран (4:3)</PresentationFormat>
  <Paragraphs>79</Paragraphs>
  <Slides>16</Slides>
  <Notes>0</Notes>
  <HiddenSlides>1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Исполнительная</vt:lpstr>
      <vt:lpstr>Классный час</vt:lpstr>
      <vt:lpstr>Слайд 2</vt:lpstr>
      <vt:lpstr>Слайд 3</vt:lpstr>
      <vt:lpstr>Цели определяют направление</vt:lpstr>
      <vt:lpstr>Контролируй расходы</vt:lpstr>
      <vt:lpstr>Сбережения и резервный фонд</vt:lpstr>
      <vt:lpstr>  НАЛОГИ - ЭТО ОБЯЗАТЕЛЬНЫЕ ПЛАТЕЖИ,     ВЗИМАЕМЫЕ ГОСУДАРСТВОМ С ФИЗИЧЕСКИХ И ЮРИДИЧЕСКИХ ЛИЦ В ГОСУДАРСТВЕННЫЕ И МЕСТНЫЕ БЮДЖЕТЫ. </vt:lpstr>
      <vt:lpstr> Налоги</vt:lpstr>
      <vt:lpstr>           Классификация налогов по уровню бюджета</vt:lpstr>
      <vt:lpstr>          Классификация налогов по уровню бюджета</vt:lpstr>
      <vt:lpstr>           Классификация налогов по уровню бюджета</vt:lpstr>
      <vt:lpstr>Потребители и их права.</vt:lpstr>
      <vt:lpstr>Слайд 13</vt:lpstr>
      <vt:lpstr>Слайд 14</vt:lpstr>
      <vt:lpstr>Слайд 15</vt:lpstr>
      <vt:lpstr>Спасибо за внимание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Титул</dc:title>
  <dc:creator>Angrin</dc:creator>
  <cp:lastModifiedBy>Людмила</cp:lastModifiedBy>
  <cp:revision>164</cp:revision>
  <dcterms:created xsi:type="dcterms:W3CDTF">2015-03-15T16:47:03Z</dcterms:created>
  <dcterms:modified xsi:type="dcterms:W3CDTF">2020-04-13T12:27:38Z</dcterms:modified>
</cp:coreProperties>
</file>