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notesSlides/notesSlide5.xml" ContentType="application/vnd.openxmlformats-officedocument.presentationml.notesSlide+xml"/>
  <Override PartName="/ppt/tags/tag4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294" r:id="rId3"/>
    <p:sldId id="260" r:id="rId4"/>
    <p:sldId id="273" r:id="rId5"/>
    <p:sldId id="262" r:id="rId6"/>
    <p:sldId id="264" r:id="rId7"/>
    <p:sldId id="265" r:id="rId8"/>
    <p:sldId id="292" r:id="rId9"/>
    <p:sldId id="266" r:id="rId10"/>
    <p:sldId id="267" r:id="rId11"/>
    <p:sldId id="274" r:id="rId12"/>
    <p:sldId id="275" r:id="rId13"/>
    <p:sldId id="276" r:id="rId14"/>
    <p:sldId id="277" r:id="rId15"/>
    <p:sldId id="268" r:id="rId16"/>
    <p:sldId id="269" r:id="rId17"/>
    <p:sldId id="278" r:id="rId18"/>
    <p:sldId id="284" r:id="rId19"/>
    <p:sldId id="285" r:id="rId20"/>
    <p:sldId id="286" r:id="rId21"/>
    <p:sldId id="287" r:id="rId22"/>
    <p:sldId id="288" r:id="rId23"/>
    <p:sldId id="289" r:id="rId24"/>
    <p:sldId id="279" r:id="rId25"/>
    <p:sldId id="280" r:id="rId26"/>
    <p:sldId id="281" r:id="rId27"/>
    <p:sldId id="283" r:id="rId28"/>
    <p:sldId id="290" r:id="rId29"/>
    <p:sldId id="270" r:id="rId30"/>
    <p:sldId id="291" r:id="rId31"/>
    <p:sldId id="293" r:id="rId3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2" d="100"/>
          <a:sy n="72" d="100"/>
        </p:scale>
        <p:origin x="-1242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777BD7-B0B6-49D3-8968-349AA5A9AB97}" type="datetimeFigureOut">
              <a:rPr lang="ru-RU" smtClean="0"/>
              <a:t>30.04.2020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3CCEF3-7160-4B11-AFD7-43419D9EA9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0101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9" name="Заметки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 smtClean="0"/>
          </a:p>
        </p:txBody>
      </p:sp>
      <p:sp>
        <p:nvSpPr>
          <p:cNvPr id="45060" name="Номер слайда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E5D56B0-F6E3-42FC-9FC5-5370AEAF456D}" type="slidenum">
              <a:rPr lang="ru-RU" smtClean="0"/>
              <a:pPr/>
              <a:t>20</a:t>
            </a:fld>
            <a:endParaRPr lang="ru-RU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ED8DB-B589-4BDF-805F-948B5522F741}" type="datetimeFigureOut">
              <a:rPr lang="ru-RU" smtClean="0"/>
              <a:t>30.04.2020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8600B-29D6-4620-82B9-D1FFBBECC9B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ED8DB-B589-4BDF-805F-948B5522F741}" type="datetimeFigureOut">
              <a:rPr lang="ru-RU" smtClean="0"/>
              <a:t>30.04.2020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8600B-29D6-4620-82B9-D1FFBBECC9B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ED8DB-B589-4BDF-805F-948B5522F741}" type="datetimeFigureOut">
              <a:rPr lang="ru-RU" smtClean="0"/>
              <a:t>30.04.2020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8600B-29D6-4620-82B9-D1FFBBECC9B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ED8DB-B589-4BDF-805F-948B5522F741}" type="datetimeFigureOut">
              <a:rPr lang="ru-RU" smtClean="0"/>
              <a:t>30.04.2020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8600B-29D6-4620-82B9-D1FFBBECC9B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ED8DB-B589-4BDF-805F-948B5522F741}" type="datetimeFigureOut">
              <a:rPr lang="ru-RU" smtClean="0"/>
              <a:t>30.04.2020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8600B-29D6-4620-82B9-D1FFBBECC9B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ED8DB-B589-4BDF-805F-948B5522F741}" type="datetimeFigureOut">
              <a:rPr lang="ru-RU" smtClean="0"/>
              <a:t>30.04.2020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8600B-29D6-4620-82B9-D1FFBBECC9B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ED8DB-B589-4BDF-805F-948B5522F741}" type="datetimeFigureOut">
              <a:rPr lang="ru-RU" smtClean="0"/>
              <a:t>30.04.2020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8600B-29D6-4620-82B9-D1FFBBECC9B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ED8DB-B589-4BDF-805F-948B5522F741}" type="datetimeFigureOut">
              <a:rPr lang="ru-RU" smtClean="0"/>
              <a:t>30.04.2020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8600B-29D6-4620-82B9-D1FFBBECC9B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ED8DB-B589-4BDF-805F-948B5522F741}" type="datetimeFigureOut">
              <a:rPr lang="ru-RU" smtClean="0"/>
              <a:t>30.04.2020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8600B-29D6-4620-82B9-D1FFBBECC9B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ED8DB-B589-4BDF-805F-948B5522F741}" type="datetimeFigureOut">
              <a:rPr lang="ru-RU" smtClean="0"/>
              <a:t>30.04.2020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8600B-29D6-4620-82B9-D1FFBBECC9B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ED8DB-B589-4BDF-805F-948B5522F741}" type="datetimeFigureOut">
              <a:rPr lang="ru-RU" smtClean="0"/>
              <a:t>30.04.2020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8600B-29D6-4620-82B9-D1FFBBECC9B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3ED8DB-B589-4BDF-805F-948B5522F741}" type="datetimeFigureOut">
              <a:rPr lang="ru-RU" smtClean="0"/>
              <a:t>30.04.2020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E8600B-29D6-4620-82B9-D1FFBBECC9B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eg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jpe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jpe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jpeg"/><Relationship Id="rId7" Type="http://schemas.openxmlformats.org/officeDocument/2006/relationships/image" Target="../media/image38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37.jpeg"/><Relationship Id="rId5" Type="http://schemas.openxmlformats.org/officeDocument/2006/relationships/image" Target="../media/image36.png"/><Relationship Id="rId4" Type="http://schemas.openxmlformats.org/officeDocument/2006/relationships/image" Target="../media/image35.jpe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jpe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4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6" Type="http://schemas.openxmlformats.org/officeDocument/2006/relationships/image" Target="../media/image40.jpe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1.jpeg"/><Relationship Id="rId9" Type="http://schemas.openxmlformats.org/officeDocument/2006/relationships/image" Target="../media/image4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11" Type="http://schemas.openxmlformats.org/officeDocument/2006/relationships/image" Target="../media/image7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jpeg"/><Relationship Id="rId13" Type="http://schemas.openxmlformats.org/officeDocument/2006/relationships/image" Target="../media/image62.jpeg"/><Relationship Id="rId3" Type="http://schemas.openxmlformats.org/officeDocument/2006/relationships/image" Target="../media/image1.jpeg"/><Relationship Id="rId7" Type="http://schemas.openxmlformats.org/officeDocument/2006/relationships/image" Target="../media/image56.jpeg"/><Relationship Id="rId12" Type="http://schemas.openxmlformats.org/officeDocument/2006/relationships/image" Target="../media/image6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jpeg"/><Relationship Id="rId11" Type="http://schemas.openxmlformats.org/officeDocument/2006/relationships/image" Target="../media/image60.jpeg"/><Relationship Id="rId5" Type="http://schemas.openxmlformats.org/officeDocument/2006/relationships/image" Target="../media/image54.jpeg"/><Relationship Id="rId15" Type="http://schemas.openxmlformats.org/officeDocument/2006/relationships/image" Target="../media/image63.png"/><Relationship Id="rId10" Type="http://schemas.openxmlformats.org/officeDocument/2006/relationships/image" Target="../media/image59.jpeg"/><Relationship Id="rId4" Type="http://schemas.openxmlformats.org/officeDocument/2006/relationships/hyperlink" Target="http://upload.wikimedia.org/wikipedia/commons/2/23/Order_of_the_Gold_Star.jpg" TargetMode="External"/><Relationship Id="rId9" Type="http://schemas.openxmlformats.org/officeDocument/2006/relationships/image" Target="../media/image58.jpeg"/><Relationship Id="rId1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13" Type="http://schemas.openxmlformats.org/officeDocument/2006/relationships/image" Target="../media/image7.png"/><Relationship Id="rId3" Type="http://schemas.openxmlformats.org/officeDocument/2006/relationships/image" Target="../media/image64.jpeg"/><Relationship Id="rId7" Type="http://schemas.openxmlformats.org/officeDocument/2006/relationships/image" Target="../media/image56.jpeg"/><Relationship Id="rId12" Type="http://schemas.openxmlformats.org/officeDocument/2006/relationships/image" Target="../media/image7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jpeg"/><Relationship Id="rId11" Type="http://schemas.openxmlformats.org/officeDocument/2006/relationships/image" Target="../media/image70.jpeg"/><Relationship Id="rId5" Type="http://schemas.openxmlformats.org/officeDocument/2006/relationships/image" Target="../media/image66.png"/><Relationship Id="rId10" Type="http://schemas.openxmlformats.org/officeDocument/2006/relationships/image" Target="../media/image69.png"/><Relationship Id="rId4" Type="http://schemas.openxmlformats.org/officeDocument/2006/relationships/image" Target="../media/image65.png"/><Relationship Id="rId9" Type="http://schemas.openxmlformats.org/officeDocument/2006/relationships/image" Target="../media/image6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72.jpeg"/><Relationship Id="rId7" Type="http://schemas.openxmlformats.org/officeDocument/2006/relationships/image" Target="../media/image7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jpeg"/><Relationship Id="rId5" Type="http://schemas.openxmlformats.org/officeDocument/2006/relationships/image" Target="../media/image55.jpeg"/><Relationship Id="rId10" Type="http://schemas.openxmlformats.org/officeDocument/2006/relationships/image" Target="../media/image74.png"/><Relationship Id="rId4" Type="http://schemas.openxmlformats.org/officeDocument/2006/relationships/image" Target="../media/image73.png"/><Relationship Id="rId9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1.jpeg"/><Relationship Id="rId7" Type="http://schemas.openxmlformats.org/officeDocument/2006/relationships/image" Target="../media/image5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jpeg"/><Relationship Id="rId11" Type="http://schemas.openxmlformats.org/officeDocument/2006/relationships/image" Target="../media/image79.png"/><Relationship Id="rId5" Type="http://schemas.openxmlformats.org/officeDocument/2006/relationships/image" Target="../media/image76.jpeg"/><Relationship Id="rId10" Type="http://schemas.openxmlformats.org/officeDocument/2006/relationships/image" Target="../media/image7.png"/><Relationship Id="rId4" Type="http://schemas.openxmlformats.org/officeDocument/2006/relationships/image" Target="../media/image75.png"/><Relationship Id="rId9" Type="http://schemas.openxmlformats.org/officeDocument/2006/relationships/image" Target="../media/image7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5" Type="http://schemas.openxmlformats.org/officeDocument/2006/relationships/image" Target="../media/image80.jpeg"/><Relationship Id="rId4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8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jpeg"/><Relationship Id="rId5" Type="http://schemas.openxmlformats.org/officeDocument/2006/relationships/image" Target="../media/image82.jpeg"/><Relationship Id="rId4" Type="http://schemas.openxmlformats.org/officeDocument/2006/relationships/image" Target="../media/image8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jpe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87.jpeg"/><Relationship Id="rId12" Type="http://schemas.openxmlformats.org/officeDocument/2006/relationships/image" Target="../media/image92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86.png"/><Relationship Id="rId11" Type="http://schemas.openxmlformats.org/officeDocument/2006/relationships/image" Target="../media/image91.jpeg"/><Relationship Id="rId5" Type="http://schemas.openxmlformats.org/officeDocument/2006/relationships/image" Target="../media/image85.png"/><Relationship Id="rId10" Type="http://schemas.openxmlformats.org/officeDocument/2006/relationships/image" Target="../media/image90.jpeg"/><Relationship Id="rId4" Type="http://schemas.openxmlformats.org/officeDocument/2006/relationships/image" Target="../media/image1.jpeg"/><Relationship Id="rId9" Type="http://schemas.openxmlformats.org/officeDocument/2006/relationships/image" Target="../media/image89.jpe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93.png"/><Relationship Id="rId7" Type="http://schemas.openxmlformats.org/officeDocument/2006/relationships/image" Target="../media/image97.jpeg"/><Relationship Id="rId12" Type="http://schemas.openxmlformats.org/officeDocument/2006/relationships/image" Target="../media/image10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6.jpeg"/><Relationship Id="rId11" Type="http://schemas.openxmlformats.org/officeDocument/2006/relationships/image" Target="../media/image100.jpeg"/><Relationship Id="rId5" Type="http://schemas.openxmlformats.org/officeDocument/2006/relationships/image" Target="../media/image95.jpeg"/><Relationship Id="rId10" Type="http://schemas.openxmlformats.org/officeDocument/2006/relationships/image" Target="../media/image99.jpeg"/><Relationship Id="rId4" Type="http://schemas.openxmlformats.org/officeDocument/2006/relationships/image" Target="../media/image94.jpeg"/><Relationship Id="rId9" Type="http://schemas.openxmlformats.org/officeDocument/2006/relationships/image" Target="../media/image98.jpe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image" Target="../media/image1.jpeg"/><Relationship Id="rId7" Type="http://schemas.openxmlformats.org/officeDocument/2006/relationships/image" Target="../media/image10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jpeg"/><Relationship Id="rId5" Type="http://schemas.openxmlformats.org/officeDocument/2006/relationships/image" Target="../media/image103.jpeg"/><Relationship Id="rId4" Type="http://schemas.openxmlformats.org/officeDocument/2006/relationships/image" Target="../media/image102.jpeg"/><Relationship Id="rId9" Type="http://schemas.openxmlformats.org/officeDocument/2006/relationships/image" Target="../media/image10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jpeg"/><Relationship Id="rId13" Type="http://schemas.openxmlformats.org/officeDocument/2006/relationships/image" Target="../media/image115.png"/><Relationship Id="rId3" Type="http://schemas.openxmlformats.org/officeDocument/2006/relationships/image" Target="../media/image1.jpeg"/><Relationship Id="rId7" Type="http://schemas.openxmlformats.org/officeDocument/2006/relationships/image" Target="../media/image110.jpeg"/><Relationship Id="rId12" Type="http://schemas.openxmlformats.org/officeDocument/2006/relationships/image" Target="../media/image114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17.gi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9.png"/><Relationship Id="rId11" Type="http://schemas.openxmlformats.org/officeDocument/2006/relationships/image" Target="../media/image113.jpeg"/><Relationship Id="rId5" Type="http://schemas.openxmlformats.org/officeDocument/2006/relationships/image" Target="../media/image108.png"/><Relationship Id="rId15" Type="http://schemas.openxmlformats.org/officeDocument/2006/relationships/hyperlink" Target="http://www.liveinternet.ru/click?http://www.gifzona.com/" TargetMode="External"/><Relationship Id="rId10" Type="http://schemas.openxmlformats.org/officeDocument/2006/relationships/image" Target="../media/image112.png"/><Relationship Id="rId4" Type="http://schemas.openxmlformats.org/officeDocument/2006/relationships/image" Target="../media/image107.png"/><Relationship Id="rId9" Type="http://schemas.openxmlformats.org/officeDocument/2006/relationships/image" Target="../media/image111.png"/><Relationship Id="rId14" Type="http://schemas.openxmlformats.org/officeDocument/2006/relationships/image" Target="../media/image11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:\Школа\Начальная школа\2014-2015\Воспитательная работа\Классный час\Чернобыль\look.com.ua-6817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5" name="Заголовок 1"/>
          <p:cNvSpPr txBox="1">
            <a:spLocks/>
          </p:cNvSpPr>
          <p:nvPr/>
        </p:nvSpPr>
        <p:spPr>
          <a:xfrm>
            <a:off x="2285984" y="2928934"/>
            <a:ext cx="6643702" cy="27860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1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eorgia" pitchFamily="18" charset="0"/>
                <a:ea typeface="+mj-ea"/>
                <a:cs typeface="+mj-cs"/>
              </a:rPr>
              <a:t>«Слезы Чернобыля»</a:t>
            </a:r>
            <a:r>
              <a:rPr kumimoji="0" lang="ru-RU" sz="6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eorgia" pitchFamily="18" charset="0"/>
                <a:ea typeface="+mj-ea"/>
                <a:cs typeface="+mj-cs"/>
              </a:rPr>
              <a:t/>
            </a:r>
            <a:br>
              <a:rPr kumimoji="0" lang="ru-RU" sz="6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eorgia" pitchFamily="18" charset="0"/>
                <a:ea typeface="+mj-ea"/>
                <a:cs typeface="+mj-cs"/>
              </a:rPr>
            </a:br>
            <a:r>
              <a:rPr kumimoji="0" lang="ru-RU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eorgia" pitchFamily="18" charset="0"/>
                <a:ea typeface="+mj-ea"/>
                <a:cs typeface="+mj-cs"/>
              </a:rPr>
              <a:t>                                                                </a:t>
            </a:r>
            <a:r>
              <a:rPr kumimoji="0" lang="ru-RU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eorgia" pitchFamily="18" charset="0"/>
                <a:ea typeface="+mj-ea"/>
                <a:cs typeface="+mj-cs"/>
              </a:rPr>
              <a:t>В. Набоков</a:t>
            </a:r>
            <a:endParaRPr kumimoji="0" lang="ru-RU" sz="2800" b="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eorgia" pitchFamily="18" charset="0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0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 override="childStyle">
                                        <p:cTn id="11" dur="1500" autoRev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00CC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" dur="1500" autoRev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00CC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" dur="1500" autoRev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18" name="Picture 2" descr="E:\Школа\Начальная школа\2014-2015\Воспитательная работа\Классный час\Чернобыль\0012-005-Bojtes-radiatsii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E:\Школа\Начальная школа\2014-2015\Воспитательная работа\Классный час\Чернобыль\look.com.ua-6817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 flipH="1"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ru-RU" sz="3200" b="1" dirty="0" smtClean="0">
                <a:solidFill>
                  <a:schemeClr val="accent2">
                    <a:lumMod val="20000"/>
                    <a:lumOff val="80000"/>
                  </a:schemeClr>
                </a:solidFill>
                <a:latin typeface="Georgia" pitchFamily="18" charset="0"/>
              </a:rPr>
              <a:t>Обычный город, обычный день ….</a:t>
            </a:r>
            <a:endParaRPr lang="ru-RU" sz="3200" b="1" dirty="0">
              <a:solidFill>
                <a:schemeClr val="accent2">
                  <a:lumMod val="20000"/>
                  <a:lumOff val="80000"/>
                </a:schemeClr>
              </a:solidFill>
              <a:latin typeface="Georgia" pitchFamily="18" charset="0"/>
            </a:endParaRPr>
          </a:p>
        </p:txBody>
      </p:sp>
      <p:pic>
        <p:nvPicPr>
          <p:cNvPr id="4099" name="Содержимое 4" descr="47.jpg"/>
          <p:cNvPicPr>
            <a:picLocks noGrp="1" noChangeAspect="1"/>
          </p:cNvPicPr>
          <p:nvPr>
            <p:ph sz="half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285750" y="1571625"/>
            <a:ext cx="4038600" cy="2778125"/>
          </a:xfrm>
        </p:spPr>
      </p:pic>
      <p:pic>
        <p:nvPicPr>
          <p:cNvPr id="4100" name="Содержимое 5" descr="32.jpg"/>
          <p:cNvPicPr>
            <a:picLocks noGrp="1" noChangeAspect="1"/>
          </p:cNvPicPr>
          <p:nvPr>
            <p:ph sz="half" idx="2"/>
          </p:nvPr>
        </p:nvPicPr>
        <p:blipFill>
          <a:blip r:embed="rId4"/>
          <a:srcRect b="7895"/>
          <a:stretch>
            <a:fillRect/>
          </a:stretch>
        </p:blipFill>
        <p:spPr>
          <a:xfrm>
            <a:off x="4429125" y="1571625"/>
            <a:ext cx="4384675" cy="2786063"/>
          </a:xfrm>
        </p:spPr>
      </p:pic>
      <p:sp>
        <p:nvSpPr>
          <p:cNvPr id="7" name="Прямоугольник 6"/>
          <p:cNvSpPr/>
          <p:nvPr/>
        </p:nvSpPr>
        <p:spPr>
          <a:xfrm>
            <a:off x="642938" y="4643438"/>
            <a:ext cx="7643812" cy="1857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800" b="1" dirty="0">
                <a:latin typeface="Georgia" pitchFamily="18" charset="0"/>
              </a:rPr>
              <a:t>Кто знал тогда о Чернобыле? </a:t>
            </a:r>
            <a:endParaRPr lang="ru-RU" sz="2800" b="1" dirty="0" smtClean="0">
              <a:latin typeface="Georgia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800" b="1" dirty="0" smtClean="0">
                <a:latin typeface="Georgia" pitchFamily="18" charset="0"/>
              </a:rPr>
              <a:t>Теперь </a:t>
            </a:r>
            <a:r>
              <a:rPr lang="ru-RU" sz="2800" b="1" dirty="0">
                <a:latin typeface="Georgia" pitchFamily="18" charset="0"/>
              </a:rPr>
              <a:t>о Чернобыле знают во всем мире.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E:\Школа\Начальная школа\2014-2015\Воспитательная работа\Классный час\Чернобыль\look.com.ua-6817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pic>
        <p:nvPicPr>
          <p:cNvPr id="5122" name="Picture 12" descr="1207139960_1-10centraleop22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00298" y="3857628"/>
            <a:ext cx="4176713" cy="2505075"/>
          </a:xfrm>
          <a:prstGeom prst="rect">
            <a:avLst/>
          </a:prstGeom>
          <a:noFill/>
          <a:ln w="28575">
            <a:pattFill prst="pct70">
              <a:fgClr>
                <a:srgbClr val="820000"/>
              </a:fgClr>
              <a:bgClr>
                <a:srgbClr val="2F2F2F"/>
              </a:bgClr>
            </a:pattFill>
            <a:miter lim="800000"/>
            <a:headEnd/>
            <a:tailEnd/>
          </a:ln>
        </p:spPr>
      </p:pic>
      <p:pic>
        <p:nvPicPr>
          <p:cNvPr id="5123" name="Picture 14" descr="Рисунок1а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71472" y="1428736"/>
            <a:ext cx="8064500" cy="185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4" name="Picture 14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532813" y="6381750"/>
            <a:ext cx="433387" cy="309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857224" y="404813"/>
            <a:ext cx="7858180" cy="803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 advClick="0"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E:\Школа\Начальная школа\2014-2015\Воспитательная работа\Классный час\Чернобыль\look.com.ua-6817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 flipH="1">
            <a:off x="0" y="0"/>
            <a:ext cx="9144000" cy="6858000"/>
          </a:xfrm>
          <a:prstGeom prst="rect">
            <a:avLst/>
          </a:prstGeom>
          <a:noFill/>
        </p:spPr>
      </p:pic>
      <p:pic>
        <p:nvPicPr>
          <p:cNvPr id="7171" name="Содержимое 4" descr="9.jpg"/>
          <p:cNvPicPr>
            <a:picLocks noGrp="1" noChangeAspect="1"/>
          </p:cNvPicPr>
          <p:nvPr>
            <p:ph sz="half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4572000" y="214290"/>
            <a:ext cx="4092575" cy="2928937"/>
          </a:xfrm>
        </p:spPr>
      </p:pic>
      <p:pic>
        <p:nvPicPr>
          <p:cNvPr id="7172" name="Рисунок 5" descr="5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643438" y="3429000"/>
            <a:ext cx="4048125" cy="3238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985" name="Rectangle 1"/>
          <p:cNvSpPr>
            <a:spLocks noChangeArrowheads="1"/>
          </p:cNvSpPr>
          <p:nvPr/>
        </p:nvSpPr>
        <p:spPr bwMode="auto">
          <a:xfrm>
            <a:off x="0" y="1000108"/>
            <a:ext cx="4429124" cy="54476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0" i="1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Georgia" pitchFamily="18" charset="0"/>
                <a:ea typeface="Calibri" pitchFamily="34" charset="0"/>
                <a:cs typeface="Times New Roman" pitchFamily="18" charset="0"/>
              </a:rPr>
              <a:t>Внезапный взрыв Чернобыльской АЭС!</a:t>
            </a:r>
            <a:br>
              <a:rPr kumimoji="0" lang="ru-RU" sz="2400" b="0" i="1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Georgia" pitchFamily="18" charset="0"/>
                <a:ea typeface="Calibri" pitchFamily="34" charset="0"/>
                <a:cs typeface="Times New Roman" pitchFamily="18" charset="0"/>
              </a:rPr>
            </a:br>
            <a:r>
              <a:rPr kumimoji="0" lang="ru-RU" sz="2400" b="0" i="1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Georgia" pitchFamily="18" charset="0"/>
                <a:ea typeface="Calibri" pitchFamily="34" charset="0"/>
                <a:cs typeface="Times New Roman" pitchFamily="18" charset="0"/>
              </a:rPr>
              <a:t>Реактор, а за ним – энергоблок –</a:t>
            </a:r>
            <a:br>
              <a:rPr kumimoji="0" lang="ru-RU" sz="2400" b="0" i="1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Georgia" pitchFamily="18" charset="0"/>
                <a:ea typeface="Calibri" pitchFamily="34" charset="0"/>
                <a:cs typeface="Times New Roman" pitchFamily="18" charset="0"/>
              </a:rPr>
            </a:br>
            <a:r>
              <a:rPr kumimoji="0" lang="ru-RU" sz="2400" b="0" i="1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Georgia" pitchFamily="18" charset="0"/>
                <a:ea typeface="Calibri" pitchFamily="34" charset="0"/>
                <a:cs typeface="Times New Roman" pitchFamily="18" charset="0"/>
              </a:rPr>
              <a:t>Разрушен! Мощный выброс до небес!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0" i="1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Georgia" pitchFamily="18" charset="0"/>
                <a:ea typeface="Calibri" pitchFamily="34" charset="0"/>
                <a:cs typeface="Times New Roman" pitchFamily="18" charset="0"/>
              </a:rPr>
              <a:t/>
            </a:r>
            <a:br>
              <a:rPr kumimoji="0" lang="ru-RU" sz="2400" b="0" i="1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Georgia" pitchFamily="18" charset="0"/>
                <a:ea typeface="Calibri" pitchFamily="34" charset="0"/>
                <a:cs typeface="Times New Roman" pitchFamily="18" charset="0"/>
              </a:rPr>
            </a:br>
            <a:r>
              <a:rPr kumimoji="0" lang="ru-RU" sz="2400" b="0" i="1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Georgia" pitchFamily="18" charset="0"/>
                <a:ea typeface="Calibri" pitchFamily="34" charset="0"/>
                <a:cs typeface="Times New Roman" pitchFamily="18" charset="0"/>
              </a:rPr>
              <a:t>Из жерла - радиации  поток</a:t>
            </a: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chemeClr val="accent2">
                  <a:lumMod val="20000"/>
                  <a:lumOff val="80000"/>
                </a:schemeClr>
              </a:solidFill>
              <a:effectLst/>
              <a:latin typeface="Georgia" pitchFamily="18" charset="0"/>
              <a:cs typeface="Arial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0" i="1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Georgia" pitchFamily="18" charset="0"/>
                <a:ea typeface="Calibri" pitchFamily="34" charset="0"/>
                <a:cs typeface="Times New Roman" pitchFamily="18" charset="0"/>
              </a:rPr>
              <a:t>На сотни метров поднимался ввысь!</a:t>
            </a:r>
            <a:br>
              <a:rPr kumimoji="0" lang="ru-RU" sz="2400" b="0" i="1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Georgia" pitchFamily="18" charset="0"/>
                <a:ea typeface="Calibri" pitchFamily="34" charset="0"/>
                <a:cs typeface="Times New Roman" pitchFamily="18" charset="0"/>
              </a:rPr>
            </a:br>
            <a:r>
              <a:rPr kumimoji="0" lang="ru-RU" sz="2400" b="0" i="1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Georgia" pitchFamily="18" charset="0"/>
                <a:ea typeface="Calibri" pitchFamily="34" charset="0"/>
                <a:cs typeface="Times New Roman" pitchFamily="18" charset="0"/>
              </a:rPr>
              <a:t>Горел графит, и плавилась смола…</a:t>
            </a:r>
            <a:br>
              <a:rPr kumimoji="0" lang="ru-RU" sz="2400" b="0" i="1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Georgia" pitchFamily="18" charset="0"/>
                <a:ea typeface="Calibri" pitchFamily="34" charset="0"/>
                <a:cs typeface="Times New Roman" pitchFamily="18" charset="0"/>
              </a:rPr>
            </a:br>
            <a:r>
              <a:rPr kumimoji="0" lang="ru-RU" sz="2400" b="0" i="1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Georgia" pitchFamily="18" charset="0"/>
                <a:ea typeface="Calibri" pitchFamily="34" charset="0"/>
                <a:cs typeface="Times New Roman" pitchFamily="18" charset="0"/>
              </a:rPr>
              <a:t>Простую человеческую жизнь</a:t>
            </a:r>
            <a:r>
              <a:rPr kumimoji="0" lang="ru-RU" sz="12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,</a:t>
            </a:r>
            <a:br>
              <a:rPr kumimoji="0" lang="ru-RU" sz="12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</a:br>
            <a:r>
              <a:rPr kumimoji="0" lang="ru-RU" sz="12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В себя вобрала атомная мгла.</a:t>
            </a:r>
            <a:endParaRPr kumimoji="0" 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E:\Школа\Начальная школа\2014-2015\Воспитательная работа\Классный час\Чернобыль\look.com.ua-6817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pic>
        <p:nvPicPr>
          <p:cNvPr id="11266" name="Рисунок 1" descr="6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4313" y="214313"/>
            <a:ext cx="5357812" cy="3570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7" name="Рисунок 3" descr="4.jpg"/>
          <p:cNvPicPr>
            <a:picLocks noChangeAspect="1"/>
          </p:cNvPicPr>
          <p:nvPr/>
        </p:nvPicPr>
        <p:blipFill>
          <a:blip r:embed="rId4"/>
          <a:srcRect l="1953" b="4147"/>
          <a:stretch>
            <a:fillRect/>
          </a:stretch>
        </p:blipFill>
        <p:spPr bwMode="auto">
          <a:xfrm>
            <a:off x="2428860" y="2676525"/>
            <a:ext cx="5976937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E:\Школа\Начальная школа\2014-2015\Воспитательная работа\Классный час\Чернобыль\look.com.ua-6817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 flipH="1">
            <a:off x="0" y="0"/>
            <a:ext cx="9144000" cy="6858000"/>
          </a:xfrm>
          <a:prstGeom prst="rect">
            <a:avLst/>
          </a:prstGeom>
          <a:noFill/>
        </p:spPr>
      </p:pic>
      <p:pic>
        <p:nvPicPr>
          <p:cNvPr id="12290" name="Рисунок 3" descr="17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57625" y="3286125"/>
            <a:ext cx="5119688" cy="3416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1" name="Рисунок 4" descr="15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714875" y="214313"/>
            <a:ext cx="4286250" cy="321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2" name="Рисунок 2" descr="16.jpg"/>
          <p:cNvPicPr>
            <a:picLocks noChangeAspect="1"/>
          </p:cNvPicPr>
          <p:nvPr/>
        </p:nvPicPr>
        <p:blipFill>
          <a:blip r:embed="rId5"/>
          <a:srcRect l="900" b="980"/>
          <a:stretch>
            <a:fillRect/>
          </a:stretch>
        </p:blipFill>
        <p:spPr bwMode="auto">
          <a:xfrm>
            <a:off x="214313" y="214313"/>
            <a:ext cx="4500562" cy="337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3" name="Рисунок 5" descr="22.jpg"/>
          <p:cNvPicPr>
            <a:picLocks noChangeAspect="1"/>
          </p:cNvPicPr>
          <p:nvPr/>
        </p:nvPicPr>
        <p:blipFill>
          <a:blip r:embed="rId6"/>
          <a:srcRect l="1250" t="1389" r="1250" b="1389"/>
          <a:stretch>
            <a:fillRect/>
          </a:stretch>
        </p:blipFill>
        <p:spPr bwMode="auto">
          <a:xfrm>
            <a:off x="214313" y="3421063"/>
            <a:ext cx="4500562" cy="328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Рисунок 1" descr="10.jpg"/>
          <p:cNvPicPr>
            <a:picLocks noChangeAspect="1"/>
          </p:cNvPicPr>
          <p:nvPr/>
        </p:nvPicPr>
        <p:blipFill>
          <a:blip r:embed="rId2"/>
          <a:srcRect b="4688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Прямоугольник 2"/>
          <p:cNvSpPr/>
          <p:nvPr/>
        </p:nvSpPr>
        <p:spPr>
          <a:xfrm>
            <a:off x="428625" y="4429125"/>
            <a:ext cx="8072438" cy="22145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E:\Школа\Начальная школа\2014-2015\Воспитательная работа\Классный час\Чернобыль\look.com.ua-6817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pic>
        <p:nvPicPr>
          <p:cNvPr id="13314" name="Рисунок 1" descr="18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88" y="214313"/>
            <a:ext cx="8329612" cy="6357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E:\Школа\Начальная школа\2014-2015\Воспитательная работа\Классный час\Чернобыль\look.com.ua-6817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pic>
        <p:nvPicPr>
          <p:cNvPr id="15362" name="Рисунок 2" descr="24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88" y="500063"/>
            <a:ext cx="8324850" cy="5929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E:\Школа\Начальная школа\2014-2015\Воспитательная работа\Классный час\Чернобыль\look.com.ua-6817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9218" name="Rectangle 7"/>
          <p:cNvSpPr>
            <a:spLocks noChangeArrowheads="1"/>
          </p:cNvSpPr>
          <p:nvPr/>
        </p:nvSpPr>
        <p:spPr bwMode="auto">
          <a:xfrm>
            <a:off x="0" y="28860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32776" name="Group 8"/>
          <p:cNvGraphicFramePr>
            <a:graphicFrameLocks noGrp="1"/>
          </p:cNvGraphicFramePr>
          <p:nvPr/>
        </p:nvGraphicFramePr>
        <p:xfrm>
          <a:off x="0" y="2886075"/>
          <a:ext cx="208280" cy="518160"/>
        </p:xfrm>
        <a:graphic>
          <a:graphicData uri="http://schemas.openxmlformats.org/drawingml/2006/table">
            <a:tbl>
              <a:tblPr/>
              <a:tblGrid>
                <a:gridCol w="208280"/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221" name="Text Box 18"/>
          <p:cNvSpPr txBox="1">
            <a:spLocks noChangeArrowheads="1"/>
          </p:cNvSpPr>
          <p:nvPr/>
        </p:nvSpPr>
        <p:spPr bwMode="auto">
          <a:xfrm>
            <a:off x="323850" y="5013325"/>
            <a:ext cx="84248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ru-RU"/>
          </a:p>
        </p:txBody>
      </p:sp>
      <p:pic>
        <p:nvPicPr>
          <p:cNvPr id="9223" name="Picture 10" descr="kadri_7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43438" y="1412875"/>
            <a:ext cx="3224212" cy="2497138"/>
          </a:xfrm>
          <a:prstGeom prst="rect">
            <a:avLst/>
          </a:prstGeom>
          <a:noFill/>
          <a:ln w="28575">
            <a:pattFill prst="pct70">
              <a:fgClr>
                <a:srgbClr val="820000"/>
              </a:fgClr>
              <a:bgClr>
                <a:srgbClr val="2F2F2F"/>
              </a:bgClr>
            </a:pattFill>
            <a:miter lim="800000"/>
            <a:headEnd/>
            <a:tailEnd/>
          </a:ln>
        </p:spPr>
      </p:pic>
      <p:pic>
        <p:nvPicPr>
          <p:cNvPr id="9224" name="Picture 12" descr="190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187450" y="1412875"/>
            <a:ext cx="3024188" cy="2497138"/>
          </a:xfrm>
          <a:prstGeom prst="rect">
            <a:avLst/>
          </a:prstGeom>
          <a:noFill/>
          <a:ln w="28575">
            <a:pattFill prst="pct70">
              <a:fgClr>
                <a:srgbClr val="820000"/>
              </a:fgClr>
              <a:bgClr>
                <a:srgbClr val="2F2F2F"/>
              </a:bgClr>
            </a:pattFill>
            <a:miter lim="800000"/>
            <a:headEnd/>
            <a:tailEnd/>
          </a:ln>
        </p:spPr>
      </p:pic>
      <p:pic>
        <p:nvPicPr>
          <p:cNvPr id="9225" name="Picture 13" descr="17Azione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276600" y="4292600"/>
            <a:ext cx="2374900" cy="1765300"/>
          </a:xfrm>
          <a:prstGeom prst="rect">
            <a:avLst/>
          </a:prstGeom>
          <a:noFill/>
          <a:ln w="28575">
            <a:pattFill prst="pct70">
              <a:fgClr>
                <a:srgbClr val="820000"/>
              </a:fgClr>
              <a:bgClr>
                <a:srgbClr val="2F2F2F"/>
              </a:bgClr>
            </a:pattFill>
            <a:miter lim="800000"/>
            <a:headEnd/>
            <a:tailEnd/>
          </a:ln>
        </p:spPr>
      </p:pic>
      <p:pic>
        <p:nvPicPr>
          <p:cNvPr id="9226" name="Picture 13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8532813" y="6381750"/>
            <a:ext cx="433387" cy="309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Box 10"/>
          <p:cNvSpPr txBox="1"/>
          <p:nvPr/>
        </p:nvSpPr>
        <p:spPr>
          <a:xfrm>
            <a:off x="1071538" y="357166"/>
            <a:ext cx="67151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5400" b="1" dirty="0" smtClean="0">
                <a:solidFill>
                  <a:schemeClr val="accent2">
                    <a:lumMod val="20000"/>
                    <a:lumOff val="80000"/>
                  </a:schemeClr>
                </a:solidFill>
                <a:latin typeface="Georgia" pitchFamily="18" charset="0"/>
              </a:rPr>
              <a:t>ЛИКВИДАЦИЯ</a:t>
            </a:r>
            <a:endParaRPr lang="ru-RU" sz="5400" b="1" dirty="0">
              <a:solidFill>
                <a:schemeClr val="accent2">
                  <a:lumMod val="20000"/>
                  <a:lumOff val="80000"/>
                </a:schemeClr>
              </a:solidFill>
              <a:latin typeface="Georgia" pitchFamily="18" charset="0"/>
            </a:endParaRPr>
          </a:p>
        </p:txBody>
      </p:sp>
    </p:spTree>
  </p:cSld>
  <p:clrMapOvr>
    <a:masterClrMapping/>
  </p:clrMapOvr>
  <p:transition spd="slow" advClick="0"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E:\Школа\Начальная школа\2014-2015\Воспитательная работа\Классный час\Чернобыль\look.com.ua-68179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 flipH="1">
            <a:off x="0" y="0"/>
            <a:ext cx="9144000" cy="6858000"/>
          </a:xfrm>
          <a:prstGeom prst="rect">
            <a:avLst/>
          </a:prstGeom>
          <a:noFill/>
        </p:spPr>
      </p:pic>
      <p:pic>
        <p:nvPicPr>
          <p:cNvPr id="10242" name="Picture 8" descr="Чернобыль – история ликвидации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71472" y="1341437"/>
            <a:ext cx="3438553" cy="5175235"/>
          </a:xfrm>
          <a:prstGeom prst="rect">
            <a:avLst/>
          </a:prstGeom>
          <a:noFill/>
          <a:ln w="28575">
            <a:pattFill prst="pct70">
              <a:fgClr>
                <a:srgbClr val="820000"/>
              </a:fgClr>
              <a:bgClr>
                <a:srgbClr val="2F2F2F"/>
              </a:bgClr>
            </a:pattFill>
            <a:miter lim="800000"/>
            <a:headEnd/>
            <a:tailEnd/>
          </a:ln>
        </p:spPr>
      </p:pic>
      <p:pic>
        <p:nvPicPr>
          <p:cNvPr id="10243" name="Picture 10" descr="Чернобыль – история ликвидации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429124" y="1071546"/>
            <a:ext cx="4117331" cy="2659066"/>
          </a:xfrm>
          <a:prstGeom prst="rect">
            <a:avLst/>
          </a:prstGeom>
          <a:noFill/>
          <a:ln w="28575">
            <a:pattFill prst="pct70">
              <a:fgClr>
                <a:srgbClr val="820000"/>
              </a:fgClr>
              <a:bgClr>
                <a:srgbClr val="2F2F2F"/>
              </a:bgClr>
            </a:pattFill>
            <a:miter lim="800000"/>
            <a:headEnd/>
            <a:tailEnd/>
          </a:ln>
        </p:spPr>
      </p:pic>
      <p:pic>
        <p:nvPicPr>
          <p:cNvPr id="10244" name="Picture 12" descr="Чернобыль – история ликвидации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429124" y="3929066"/>
            <a:ext cx="4143404" cy="2673780"/>
          </a:xfrm>
          <a:prstGeom prst="rect">
            <a:avLst/>
          </a:prstGeom>
          <a:noFill/>
          <a:ln w="28575">
            <a:pattFill prst="pct70">
              <a:fgClr>
                <a:srgbClr val="820000"/>
              </a:fgClr>
              <a:bgClr>
                <a:srgbClr val="2F2F2F"/>
              </a:bgClr>
            </a:pattFill>
            <a:miter lim="800000"/>
            <a:headEnd/>
            <a:tailEnd/>
          </a:ln>
        </p:spPr>
      </p:pic>
      <p:pic>
        <p:nvPicPr>
          <p:cNvPr id="10246" name="Picture 9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8532813" y="6381750"/>
            <a:ext cx="433387" cy="309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785786" y="214290"/>
            <a:ext cx="67151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5400" b="1" dirty="0" smtClean="0">
                <a:solidFill>
                  <a:schemeClr val="accent2">
                    <a:lumMod val="20000"/>
                    <a:lumOff val="80000"/>
                  </a:schemeClr>
                </a:solidFill>
                <a:latin typeface="Georgia" pitchFamily="18" charset="0"/>
              </a:rPr>
              <a:t>ЛИКВИДАЦИЯ</a:t>
            </a:r>
            <a:endParaRPr lang="ru-RU" sz="5400" b="1" dirty="0">
              <a:solidFill>
                <a:schemeClr val="accent2">
                  <a:lumMod val="20000"/>
                  <a:lumOff val="80000"/>
                </a:schemeClr>
              </a:solidFill>
              <a:latin typeface="Georgia" pitchFamily="18" charset="0"/>
            </a:endParaRPr>
          </a:p>
        </p:txBody>
      </p:sp>
    </p:spTree>
  </p:cSld>
  <p:clrMapOvr>
    <a:masterClrMapping/>
  </p:clrMapOvr>
  <p:transition spd="slow" advClick="0"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E:\Школа\Начальная школа\2014-2015\Воспитательная работа\Классный час\Чернобыль\look.com.ua-6817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11266" name="Rectangle 7"/>
          <p:cNvSpPr>
            <a:spLocks noChangeArrowheads="1"/>
          </p:cNvSpPr>
          <p:nvPr/>
        </p:nvSpPr>
        <p:spPr bwMode="auto">
          <a:xfrm>
            <a:off x="0" y="28860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32776" name="Group 8"/>
          <p:cNvGraphicFramePr>
            <a:graphicFrameLocks noGrp="1"/>
          </p:cNvGraphicFramePr>
          <p:nvPr/>
        </p:nvGraphicFramePr>
        <p:xfrm>
          <a:off x="0" y="2886075"/>
          <a:ext cx="208280" cy="518160"/>
        </p:xfrm>
        <a:graphic>
          <a:graphicData uri="http://schemas.openxmlformats.org/drawingml/2006/table">
            <a:tbl>
              <a:tblPr/>
              <a:tblGrid>
                <a:gridCol w="208280"/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269" name="Text Box 18"/>
          <p:cNvSpPr txBox="1">
            <a:spLocks noChangeArrowheads="1"/>
          </p:cNvSpPr>
          <p:nvPr/>
        </p:nvSpPr>
        <p:spPr bwMode="auto">
          <a:xfrm>
            <a:off x="323850" y="5013325"/>
            <a:ext cx="84248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ru-RU"/>
          </a:p>
        </p:txBody>
      </p:sp>
      <p:pic>
        <p:nvPicPr>
          <p:cNvPr id="11270" name="Picture 43" descr="Вертолет над Чернобыльской АЭС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43438" y="1571612"/>
            <a:ext cx="4492474" cy="2928958"/>
          </a:xfrm>
          <a:prstGeom prst="rect">
            <a:avLst/>
          </a:prstGeom>
          <a:noFill/>
          <a:ln w="28575">
            <a:pattFill prst="pct70">
              <a:fgClr>
                <a:srgbClr val="820000"/>
              </a:fgClr>
              <a:bgClr>
                <a:srgbClr val="2F2F2F"/>
              </a:bgClr>
            </a:pattFill>
            <a:miter lim="800000"/>
            <a:headEnd/>
            <a:tailEnd/>
          </a:ln>
        </p:spPr>
      </p:pic>
      <p:pic>
        <p:nvPicPr>
          <p:cNvPr id="11272" name="Picture 13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532813" y="6381750"/>
            <a:ext cx="433387" cy="309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73" name="Picture 12" descr="5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14282" y="1571612"/>
            <a:ext cx="4231168" cy="2928958"/>
          </a:xfrm>
          <a:prstGeom prst="rect">
            <a:avLst/>
          </a:prstGeom>
          <a:noFill/>
          <a:ln w="28575">
            <a:pattFill prst="pct70">
              <a:fgClr>
                <a:srgbClr val="820000"/>
              </a:fgClr>
              <a:bgClr>
                <a:srgbClr val="2F2F2F"/>
              </a:bgClr>
            </a:pattFill>
            <a:miter lim="800000"/>
            <a:headEnd/>
            <a:tailEnd/>
          </a:ln>
        </p:spPr>
      </p:pic>
      <p:pic>
        <p:nvPicPr>
          <p:cNvPr id="11274" name="Picture 13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786314" y="4786322"/>
            <a:ext cx="3743325" cy="1423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1071538" y="357166"/>
            <a:ext cx="67151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5400" b="1" dirty="0" smtClean="0">
                <a:solidFill>
                  <a:schemeClr val="accent2">
                    <a:lumMod val="20000"/>
                    <a:lumOff val="80000"/>
                  </a:schemeClr>
                </a:solidFill>
                <a:latin typeface="Georgia" pitchFamily="18" charset="0"/>
              </a:rPr>
              <a:t>ЛИКВИДАЦИЯ</a:t>
            </a:r>
            <a:endParaRPr lang="ru-RU" sz="5400" b="1" dirty="0">
              <a:solidFill>
                <a:schemeClr val="accent2">
                  <a:lumMod val="20000"/>
                  <a:lumOff val="80000"/>
                </a:schemeClr>
              </a:solidFill>
              <a:latin typeface="Georgia" pitchFamily="18" charset="0"/>
            </a:endParaRPr>
          </a:p>
        </p:txBody>
      </p:sp>
    </p:spTree>
  </p:cSld>
  <p:clrMapOvr>
    <a:masterClrMapping/>
  </p:clrMapOvr>
  <p:transition spd="slow" advClick="0"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E:\Школа\Начальная школа\2014-2015\Воспитательная работа\Классный час\Чернобыль\look.com.ua-6817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 flipH="1"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12290" name="Rectangle 7"/>
          <p:cNvSpPr>
            <a:spLocks noChangeArrowheads="1"/>
          </p:cNvSpPr>
          <p:nvPr/>
        </p:nvSpPr>
        <p:spPr bwMode="auto">
          <a:xfrm>
            <a:off x="0" y="28860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32776" name="Group 8"/>
          <p:cNvGraphicFramePr>
            <a:graphicFrameLocks noGrp="1"/>
          </p:cNvGraphicFramePr>
          <p:nvPr/>
        </p:nvGraphicFramePr>
        <p:xfrm>
          <a:off x="0" y="2886075"/>
          <a:ext cx="208280" cy="518160"/>
        </p:xfrm>
        <a:graphic>
          <a:graphicData uri="http://schemas.openxmlformats.org/drawingml/2006/table">
            <a:tbl>
              <a:tblPr/>
              <a:tblGrid>
                <a:gridCol w="208280"/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2293" name="Text Box 18"/>
          <p:cNvSpPr txBox="1">
            <a:spLocks noChangeArrowheads="1"/>
          </p:cNvSpPr>
          <p:nvPr/>
        </p:nvSpPr>
        <p:spPr bwMode="auto">
          <a:xfrm>
            <a:off x="323850" y="5013325"/>
            <a:ext cx="84248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ru-RU"/>
          </a:p>
        </p:txBody>
      </p:sp>
      <p:pic>
        <p:nvPicPr>
          <p:cNvPr id="12294" name="Picture 41" descr="Чернобыль и его последствия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00100" y="1357298"/>
            <a:ext cx="7618425" cy="5092774"/>
          </a:xfrm>
          <a:prstGeom prst="rect">
            <a:avLst/>
          </a:prstGeom>
          <a:noFill/>
          <a:ln w="28575">
            <a:pattFill prst="pct70">
              <a:fgClr>
                <a:srgbClr val="820000"/>
              </a:fgClr>
              <a:bgClr>
                <a:srgbClr val="2F2F2F"/>
              </a:bgClr>
            </a:pattFill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1000100" y="428604"/>
            <a:ext cx="67151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5400" b="1" dirty="0" smtClean="0">
                <a:solidFill>
                  <a:schemeClr val="accent2">
                    <a:lumMod val="20000"/>
                    <a:lumOff val="80000"/>
                  </a:schemeClr>
                </a:solidFill>
                <a:latin typeface="Georgia" pitchFamily="18" charset="0"/>
              </a:rPr>
              <a:t>ЛИКВИДАЦИЯ</a:t>
            </a:r>
            <a:endParaRPr lang="ru-RU" sz="5400" b="1" dirty="0">
              <a:solidFill>
                <a:schemeClr val="accent2">
                  <a:lumMod val="20000"/>
                  <a:lumOff val="80000"/>
                </a:schemeClr>
              </a:solidFill>
              <a:latin typeface="Georgia" pitchFamily="18" charset="0"/>
            </a:endParaRPr>
          </a:p>
        </p:txBody>
      </p:sp>
    </p:spTree>
  </p:cSld>
  <p:clrMapOvr>
    <a:masterClrMapping/>
  </p:clrMapOvr>
  <p:transition spd="slow" advClick="0"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E:\Школа\Начальная школа\2014-2015\Воспитательная работа\Классный час\Чернобыль\look.com.ua-6817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pic>
        <p:nvPicPr>
          <p:cNvPr id="19458" name="Рисунок 1" descr="30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50" y="142875"/>
            <a:ext cx="4143375" cy="5094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59" name="Рисунок 2" descr="38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071938" y="3429000"/>
            <a:ext cx="4816475" cy="321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E:\Школа\Начальная школа\2014-2015\Воспитательная работа\Классный час\Чернобыль\look.com.ua-6817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 flipH="1">
            <a:off x="0" y="0"/>
            <a:ext cx="9144000" cy="6858000"/>
          </a:xfrm>
          <a:prstGeom prst="rect">
            <a:avLst/>
          </a:prstGeom>
          <a:noFill/>
        </p:spPr>
      </p:pic>
      <p:pic>
        <p:nvPicPr>
          <p:cNvPr id="20482" name="Рисунок 1" descr="44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50" y="285750"/>
            <a:ext cx="4381500" cy="328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83" name="Picture 2" descr="Файл:Chernobil Avaria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643313" y="2371725"/>
            <a:ext cx="5238750" cy="4243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84" name="Picture 4" descr="Файл:Chernobyl medal.gif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28688" y="3929063"/>
            <a:ext cx="1476375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E:\Школа\Начальная школа\2014-2015\Воспитательная работа\Классный час\Чернобыль\look.com.ua-68179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pic>
        <p:nvPicPr>
          <p:cNvPr id="14338" name="Picture 3" descr="chernobyl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68313" y="1268413"/>
            <a:ext cx="2674937" cy="3744912"/>
          </a:xfrm>
          <a:prstGeom prst="rect">
            <a:avLst/>
          </a:prstGeom>
          <a:noFill/>
          <a:ln w="28575">
            <a:pattFill prst="pct70">
              <a:fgClr>
                <a:srgbClr val="820000"/>
              </a:fgClr>
              <a:bgClr>
                <a:srgbClr val="2F2F2F"/>
              </a:bgClr>
            </a:pattFill>
            <a:miter lim="800000"/>
            <a:headEnd/>
            <a:tailEnd/>
          </a:ln>
        </p:spPr>
      </p:pic>
      <p:pic>
        <p:nvPicPr>
          <p:cNvPr id="14339" name="Picture 9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857488" y="0"/>
            <a:ext cx="5878238" cy="15239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0" name="Picture 12" descr="Borovoj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084888" y="2133600"/>
            <a:ext cx="2627312" cy="3600450"/>
          </a:xfrm>
          <a:prstGeom prst="rect">
            <a:avLst/>
          </a:prstGeom>
          <a:noFill/>
          <a:ln w="28575">
            <a:pattFill prst="pct70">
              <a:fgClr>
                <a:srgbClr val="820000"/>
              </a:fgClr>
              <a:bgClr>
                <a:srgbClr val="2F2F2F"/>
              </a:bgClr>
            </a:pattFill>
            <a:miter lim="800000"/>
            <a:headEnd/>
            <a:tailEnd/>
          </a:ln>
        </p:spPr>
      </p:pic>
      <p:pic>
        <p:nvPicPr>
          <p:cNvPr id="14341" name="Picture 10" descr="57094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3419475" y="1628775"/>
            <a:ext cx="2465388" cy="3744913"/>
          </a:xfrm>
          <a:prstGeom prst="rect">
            <a:avLst/>
          </a:prstGeom>
          <a:noFill/>
          <a:ln w="28575">
            <a:pattFill prst="pct70">
              <a:fgClr>
                <a:srgbClr val="820000"/>
              </a:fgClr>
              <a:bgClr>
                <a:srgbClr val="2F2F2F"/>
              </a:bgClr>
            </a:pattFill>
            <a:miter lim="800000"/>
            <a:headEnd/>
            <a:tailEnd/>
          </a:ln>
        </p:spPr>
      </p:pic>
      <p:pic>
        <p:nvPicPr>
          <p:cNvPr id="14342" name="Picture 10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8532813" y="6381750"/>
            <a:ext cx="433387" cy="309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</p:cSld>
  <p:clrMapOvr>
    <a:masterClrMapping/>
  </p:clrMapOvr>
  <p:transition spd="slow" advClick="0"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E:\Школа\Начальная школа\2014-2015\Воспитательная работа\Классный час\Чернобыль\look.com.ua-68179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 flipH="1">
            <a:off x="0" y="0"/>
            <a:ext cx="9144000" cy="6858000"/>
          </a:xfrm>
          <a:prstGeom prst="rect">
            <a:avLst/>
          </a:prstGeom>
          <a:noFill/>
        </p:spPr>
      </p:pic>
      <p:pic>
        <p:nvPicPr>
          <p:cNvPr id="23554" name="Picture 17" descr="орден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39750" y="549275"/>
            <a:ext cx="1201738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18" descr="24-ая церемония в память о жертвах ядерной аварии на Чернобыльской атомной электростанции.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072198" y="214290"/>
            <a:ext cx="2143140" cy="3074629"/>
          </a:xfrm>
          <a:prstGeom prst="rect">
            <a:avLst/>
          </a:prstGeom>
          <a:noFill/>
          <a:ln w="28575">
            <a:pattFill prst="pct70">
              <a:fgClr>
                <a:srgbClr val="CC0000"/>
              </a:fgClr>
              <a:bgClr>
                <a:srgbClr val="2F2F2F"/>
              </a:bgClr>
            </a:pattFill>
            <a:miter lim="800000"/>
            <a:headEnd/>
            <a:tailEnd/>
          </a:ln>
        </p:spPr>
      </p:pic>
      <p:pic>
        <p:nvPicPr>
          <p:cNvPr id="23556" name="Picture 19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547813" y="549275"/>
            <a:ext cx="3527425" cy="1252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7" name="Picture 12" descr="783647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4787900" y="3429000"/>
            <a:ext cx="4070380" cy="3014961"/>
          </a:xfrm>
          <a:prstGeom prst="rect">
            <a:avLst/>
          </a:prstGeom>
          <a:noFill/>
          <a:ln w="28575">
            <a:pattFill prst="pct70">
              <a:fgClr>
                <a:srgbClr val="820000"/>
              </a:fgClr>
              <a:bgClr>
                <a:srgbClr val="2F2F2F"/>
              </a:bgClr>
            </a:pattFill>
            <a:miter lim="800000"/>
            <a:headEnd/>
            <a:tailEnd/>
          </a:ln>
        </p:spPr>
      </p:pic>
      <p:pic>
        <p:nvPicPr>
          <p:cNvPr id="23559" name="Picture 14" descr="орден2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5364163" y="333375"/>
            <a:ext cx="669925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60" name="Picture 13" descr="за спасение погибавших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4427538" y="1412875"/>
            <a:ext cx="739775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61" name="Picture 11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335179" y="3429000"/>
            <a:ext cx="4236822" cy="3000396"/>
          </a:xfrm>
          <a:prstGeom prst="rect">
            <a:avLst/>
          </a:prstGeom>
          <a:noFill/>
          <a:ln w="28575">
            <a:pattFill prst="pct70">
              <a:fgClr>
                <a:srgbClr val="820000"/>
              </a:fgClr>
              <a:bgClr>
                <a:srgbClr val="2F2F2F"/>
              </a:bgClr>
            </a:pattFill>
            <a:miter lim="800000"/>
            <a:headEnd/>
            <a:tailEnd/>
          </a:ln>
        </p:spPr>
      </p:pic>
    </p:spTree>
    <p:custDataLst>
      <p:tags r:id="rId1"/>
    </p:custDataLst>
  </p:cSld>
  <p:clrMapOvr>
    <a:masterClrMapping/>
  </p:clrMapOvr>
  <p:transition spd="slow" advClick="0"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E:\Школа\Начальная школа\2014-2015\Воспитательная работа\Классный час\Чернобыль\look.com.ua-6817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pic>
        <p:nvPicPr>
          <p:cNvPr id="24578" name="Picture 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50" y="0"/>
            <a:ext cx="913765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579" name="Rectangle 18"/>
          <p:cNvSpPr>
            <a:spLocks noChangeArrowheads="1"/>
          </p:cNvSpPr>
          <p:nvPr/>
        </p:nvSpPr>
        <p:spPr bwMode="auto">
          <a:xfrm>
            <a:off x="1714480" y="428604"/>
            <a:ext cx="5357850" cy="308769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pic>
        <p:nvPicPr>
          <p:cNvPr id="24580" name="Picture 4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14282" y="1648356"/>
            <a:ext cx="1571636" cy="19806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81" name="Picture 4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91520" y="3429000"/>
            <a:ext cx="1473820" cy="1857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82" name="Picture 43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571736" y="4286256"/>
            <a:ext cx="1537407" cy="1928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83" name="Picture 44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4357686" y="4286256"/>
            <a:ext cx="1571636" cy="19717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84" name="Picture 45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6143636" y="3571876"/>
            <a:ext cx="1584586" cy="19796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85" name="Picture 46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7000892" y="1928802"/>
            <a:ext cx="1632531" cy="20574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86" name="Picture 49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1428728" y="500042"/>
            <a:ext cx="5839278" cy="2857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87" name="Picture 14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8532813" y="6381750"/>
            <a:ext cx="433387" cy="309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 advClick="0"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 descr="E:\Школа\Начальная школа\2014-2015\Воспитательная работа\Классный час\Чернобыль\look.com.ua-68179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 flipH="1">
            <a:off x="0" y="0"/>
            <a:ext cx="9144000" cy="6858000"/>
          </a:xfrm>
          <a:prstGeom prst="rect">
            <a:avLst/>
          </a:prstGeom>
          <a:noFill/>
        </p:spPr>
      </p:pic>
      <p:pic>
        <p:nvPicPr>
          <p:cNvPr id="25602" name="Picture 5" descr="Файл:Order of the Gold Star.jpg">
            <a:hlinkClick r:id="rId4"/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740650" y="2133600"/>
            <a:ext cx="938213" cy="266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179388" y="188913"/>
            <a:ext cx="8807450" cy="1555750"/>
            <a:chOff x="113" y="119"/>
            <a:chExt cx="5548" cy="980"/>
          </a:xfrm>
        </p:grpSpPr>
        <p:pic>
          <p:nvPicPr>
            <p:cNvPr id="25612" name="Picture 16" descr="00065934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113" y="119"/>
              <a:ext cx="5534" cy="9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5613" name="Picture 17" descr="zast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113" y="1026"/>
              <a:ext cx="5548" cy="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25604" name="Picture 19" descr="83_group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468313" y="2133600"/>
            <a:ext cx="1381125" cy="1727200"/>
          </a:xfrm>
          <a:prstGeom prst="rect">
            <a:avLst/>
          </a:prstGeom>
          <a:noFill/>
          <a:ln w="38100">
            <a:pattFill prst="dkHorz">
              <a:fgClr>
                <a:srgbClr val="820000"/>
              </a:fgClr>
              <a:bgClr>
                <a:schemeClr val="tx1"/>
              </a:bgClr>
            </a:pattFill>
            <a:miter lim="800000"/>
            <a:headEnd/>
            <a:tailEnd/>
          </a:ln>
        </p:spPr>
      </p:pic>
      <p:pic>
        <p:nvPicPr>
          <p:cNvPr id="25605" name="Picture 20" descr="83_group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468313" y="4076700"/>
            <a:ext cx="1382712" cy="1728788"/>
          </a:xfrm>
          <a:prstGeom prst="rect">
            <a:avLst/>
          </a:prstGeom>
          <a:noFill/>
          <a:ln w="38100">
            <a:pattFill prst="dkHorz">
              <a:fgClr>
                <a:srgbClr val="820000"/>
              </a:fgClr>
              <a:bgClr>
                <a:schemeClr val="tx1"/>
              </a:bgClr>
            </a:pattFill>
            <a:miter lim="800000"/>
            <a:headEnd/>
            <a:tailEnd/>
          </a:ln>
        </p:spPr>
      </p:pic>
      <p:pic>
        <p:nvPicPr>
          <p:cNvPr id="25606" name="Picture 22" descr="83_group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4067175" y="4437063"/>
            <a:ext cx="1512888" cy="1655762"/>
          </a:xfrm>
          <a:prstGeom prst="rect">
            <a:avLst/>
          </a:prstGeom>
          <a:noFill/>
          <a:ln w="38100">
            <a:pattFill prst="dkHorz">
              <a:fgClr>
                <a:srgbClr val="820000"/>
              </a:fgClr>
              <a:bgClr>
                <a:schemeClr val="tx1"/>
              </a:bgClr>
            </a:pattFill>
            <a:miter lim="800000"/>
            <a:headEnd/>
            <a:tailEnd/>
          </a:ln>
        </p:spPr>
      </p:pic>
      <p:pic>
        <p:nvPicPr>
          <p:cNvPr id="25607" name="Picture 23" descr="83_group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5940425" y="4437063"/>
            <a:ext cx="1393825" cy="1655762"/>
          </a:xfrm>
          <a:prstGeom prst="rect">
            <a:avLst/>
          </a:prstGeom>
          <a:noFill/>
          <a:ln w="38100">
            <a:pattFill prst="dkHorz">
              <a:fgClr>
                <a:srgbClr val="820000"/>
              </a:fgClr>
              <a:bgClr>
                <a:schemeClr val="tx1"/>
              </a:bgClr>
            </a:pattFill>
            <a:miter lim="800000"/>
            <a:headEnd/>
            <a:tailEnd/>
          </a:ln>
        </p:spPr>
      </p:pic>
      <p:pic>
        <p:nvPicPr>
          <p:cNvPr id="25608" name="Picture 25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2051050" y="1916113"/>
            <a:ext cx="5399088" cy="2214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609" name="Picture 21" descr="83_group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2195513" y="4437063"/>
            <a:ext cx="1501775" cy="1655762"/>
          </a:xfrm>
          <a:prstGeom prst="rect">
            <a:avLst/>
          </a:prstGeom>
          <a:noFill/>
          <a:ln w="38100">
            <a:pattFill prst="dkHorz">
              <a:fgClr>
                <a:srgbClr val="820000"/>
              </a:fgClr>
              <a:bgClr>
                <a:schemeClr val="tx1"/>
              </a:bgClr>
            </a:pattFill>
            <a:miter lim="800000"/>
            <a:headEnd/>
            <a:tailEnd/>
          </a:ln>
        </p:spPr>
      </p:pic>
      <p:pic>
        <p:nvPicPr>
          <p:cNvPr id="25610" name="Picture 15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8532813" y="6381750"/>
            <a:ext cx="433387" cy="309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611" name="Picture 14"/>
          <p:cNvPicPr>
            <a:picLocks noChangeAspect="1" noChangeArrowheads="1"/>
          </p:cNvPicPr>
          <p:nvPr/>
        </p:nvPicPr>
        <p:blipFill>
          <a:blip r:embed="rId15"/>
          <a:srcRect/>
          <a:stretch>
            <a:fillRect/>
          </a:stretch>
        </p:blipFill>
        <p:spPr bwMode="auto">
          <a:xfrm>
            <a:off x="1547813" y="333375"/>
            <a:ext cx="3816350" cy="684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 advClick="0"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2" descr="E:\Школа\Начальная школа\2014-2015\Воспитательная работа\Классный час\Чернобыль\look.com.ua-6817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pic>
        <p:nvPicPr>
          <p:cNvPr id="26626" name="Picture 25" descr="999bda11836579f797ea7e21a4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27538" y="3644900"/>
            <a:ext cx="1673225" cy="2447925"/>
          </a:xfrm>
          <a:prstGeom prst="rect">
            <a:avLst/>
          </a:prstGeom>
          <a:noFill/>
          <a:ln w="28575">
            <a:pattFill prst="pct70">
              <a:fgClr>
                <a:srgbClr val="820000"/>
              </a:fgClr>
              <a:bgClr>
                <a:srgbClr val="2F2F2F"/>
              </a:bgClr>
            </a:pattFill>
            <a:miter lim="800000"/>
            <a:headEnd/>
            <a:tailEnd/>
          </a:ln>
        </p:spPr>
      </p:pic>
      <p:grpSp>
        <p:nvGrpSpPr>
          <p:cNvPr id="2" name="Group 28"/>
          <p:cNvGrpSpPr>
            <a:grpSpLocks/>
          </p:cNvGrpSpPr>
          <p:nvPr/>
        </p:nvGrpSpPr>
        <p:grpSpPr bwMode="auto">
          <a:xfrm>
            <a:off x="539750" y="1916113"/>
            <a:ext cx="1728788" cy="2520950"/>
            <a:chOff x="249" y="1842"/>
            <a:chExt cx="1180" cy="1769"/>
          </a:xfrm>
        </p:grpSpPr>
        <p:pic>
          <p:nvPicPr>
            <p:cNvPr id="26640" name="Picture 26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249" y="1842"/>
              <a:ext cx="1180" cy="17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6641" name="Oval 23"/>
            <p:cNvSpPr>
              <a:spLocks noChangeArrowheads="1"/>
            </p:cNvSpPr>
            <p:nvPr/>
          </p:nvSpPr>
          <p:spPr bwMode="auto">
            <a:xfrm>
              <a:off x="249" y="1842"/>
              <a:ext cx="1179" cy="1769"/>
            </a:xfrm>
            <a:prstGeom prst="ellipse">
              <a:avLst/>
            </a:prstGeom>
            <a:noFill/>
            <a:ln w="31750">
              <a:pattFill prst="pct70">
                <a:fgClr>
                  <a:srgbClr val="820000"/>
                </a:fgClr>
                <a:bgClr>
                  <a:srgbClr val="2F2F2F"/>
                </a:bgClr>
              </a:pattFill>
              <a:round/>
              <a:headEnd/>
              <a:tailEnd/>
            </a:ln>
          </p:spPr>
          <p:txBody>
            <a:bodyPr wrap="none" anchor="ctr"/>
            <a:lstStyle/>
            <a:p>
              <a:endParaRPr lang="ru-RU"/>
            </a:p>
          </p:txBody>
        </p:sp>
      </p:grpSp>
      <p:pic>
        <p:nvPicPr>
          <p:cNvPr id="26628" name="Picture 29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95288" y="4508500"/>
            <a:ext cx="1944687" cy="1550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" name="Group 30"/>
          <p:cNvGrpSpPr>
            <a:grpSpLocks/>
          </p:cNvGrpSpPr>
          <p:nvPr/>
        </p:nvGrpSpPr>
        <p:grpSpPr bwMode="auto">
          <a:xfrm>
            <a:off x="179388" y="188913"/>
            <a:ext cx="8807450" cy="1555750"/>
            <a:chOff x="113" y="119"/>
            <a:chExt cx="5548" cy="980"/>
          </a:xfrm>
        </p:grpSpPr>
        <p:pic>
          <p:nvPicPr>
            <p:cNvPr id="26638" name="Picture 31" descr="00065934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113" y="119"/>
              <a:ext cx="5534" cy="9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6639" name="Picture 32" descr="zast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113" y="1026"/>
              <a:ext cx="5548" cy="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26630" name="Picture 33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1187450" y="260350"/>
            <a:ext cx="4752975" cy="719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" name="Group 30"/>
          <p:cNvGrpSpPr>
            <a:grpSpLocks/>
          </p:cNvGrpSpPr>
          <p:nvPr/>
        </p:nvGrpSpPr>
        <p:grpSpPr bwMode="auto">
          <a:xfrm>
            <a:off x="6732588" y="1916113"/>
            <a:ext cx="1873250" cy="2520950"/>
            <a:chOff x="431" y="1842"/>
            <a:chExt cx="1315" cy="1769"/>
          </a:xfrm>
        </p:grpSpPr>
        <p:pic>
          <p:nvPicPr>
            <p:cNvPr id="26636" name="Picture 21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431" y="1842"/>
              <a:ext cx="1311" cy="17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6637" name="Oval 19"/>
            <p:cNvSpPr>
              <a:spLocks noChangeArrowheads="1"/>
            </p:cNvSpPr>
            <p:nvPr/>
          </p:nvSpPr>
          <p:spPr bwMode="auto">
            <a:xfrm>
              <a:off x="431" y="1842"/>
              <a:ext cx="1315" cy="1769"/>
            </a:xfrm>
            <a:prstGeom prst="ellipse">
              <a:avLst/>
            </a:prstGeom>
            <a:noFill/>
            <a:ln w="31750">
              <a:pattFill prst="pct70">
                <a:fgClr>
                  <a:srgbClr val="820000"/>
                </a:fgClr>
                <a:bgClr>
                  <a:srgbClr val="2F2F2F"/>
                </a:bgClr>
              </a:pattFill>
              <a:round/>
              <a:headEnd/>
              <a:tailEnd/>
            </a:ln>
          </p:spPr>
          <p:txBody>
            <a:bodyPr wrap="none" anchor="ctr"/>
            <a:lstStyle/>
            <a:p>
              <a:endParaRPr lang="ru-RU"/>
            </a:p>
          </p:txBody>
        </p:sp>
      </p:grpSp>
      <p:pic>
        <p:nvPicPr>
          <p:cNvPr id="26632" name="Picture 24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6588125" y="4508500"/>
            <a:ext cx="2159000" cy="152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633" name="Picture 25" descr="3a5e83e39a713f3850e455f3ae8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2771775" y="3644900"/>
            <a:ext cx="1630363" cy="2447925"/>
          </a:xfrm>
          <a:prstGeom prst="rect">
            <a:avLst/>
          </a:prstGeom>
          <a:noFill/>
          <a:ln w="28575">
            <a:pattFill prst="pct70">
              <a:fgClr>
                <a:srgbClr val="820000"/>
              </a:fgClr>
              <a:bgClr>
                <a:srgbClr val="2F2F2F"/>
              </a:bgClr>
            </a:pattFill>
            <a:miter lim="800000"/>
            <a:headEnd/>
            <a:tailEnd/>
          </a:ln>
        </p:spPr>
      </p:pic>
      <p:pic>
        <p:nvPicPr>
          <p:cNvPr id="26634" name="Picture 7" descr="медаль золотая звезда Героя Советского Союза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3779838" y="1916113"/>
            <a:ext cx="1344612" cy="2305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635" name="Picture 19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8532813" y="6381750"/>
            <a:ext cx="433387" cy="309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 advClick="0"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E:\Школа\Начальная школа\2014-2015\Воспитательная работа\Классный час\Чернобыль\look.com.ua-6817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 flipH="1">
            <a:off x="0" y="0"/>
            <a:ext cx="9144000" cy="6858000"/>
          </a:xfrm>
          <a:prstGeom prst="rect">
            <a:avLst/>
          </a:prstGeom>
          <a:noFill/>
        </p:spPr>
      </p:pic>
      <p:pic>
        <p:nvPicPr>
          <p:cNvPr id="27650" name="Picture 24" descr="28bb09d616f40b52d3ad1a838f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16688" y="2852738"/>
            <a:ext cx="2065337" cy="3241675"/>
          </a:xfrm>
          <a:prstGeom prst="rect">
            <a:avLst/>
          </a:prstGeom>
          <a:noFill/>
          <a:ln w="28575">
            <a:pattFill prst="pct70">
              <a:fgClr>
                <a:srgbClr val="820000"/>
              </a:fgClr>
              <a:bgClr>
                <a:srgbClr val="2F2F2F"/>
              </a:bgClr>
            </a:pattFill>
            <a:miter lim="800000"/>
            <a:headEnd/>
            <a:tailEnd/>
          </a:ln>
        </p:spPr>
      </p:pic>
      <p:grpSp>
        <p:nvGrpSpPr>
          <p:cNvPr id="2" name="Group 51"/>
          <p:cNvGrpSpPr>
            <a:grpSpLocks/>
          </p:cNvGrpSpPr>
          <p:nvPr/>
        </p:nvGrpSpPr>
        <p:grpSpPr bwMode="auto">
          <a:xfrm>
            <a:off x="611188" y="2492375"/>
            <a:ext cx="2128837" cy="2881313"/>
            <a:chOff x="295" y="2069"/>
            <a:chExt cx="1413" cy="1912"/>
          </a:xfrm>
        </p:grpSpPr>
        <p:pic>
          <p:nvPicPr>
            <p:cNvPr id="27659" name="Picture 50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295" y="2069"/>
              <a:ext cx="1413" cy="19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7660" name="Oval 13"/>
            <p:cNvSpPr>
              <a:spLocks noChangeArrowheads="1"/>
            </p:cNvSpPr>
            <p:nvPr/>
          </p:nvSpPr>
          <p:spPr bwMode="auto">
            <a:xfrm>
              <a:off x="295" y="2069"/>
              <a:ext cx="1406" cy="1905"/>
            </a:xfrm>
            <a:prstGeom prst="ellipse">
              <a:avLst/>
            </a:prstGeom>
            <a:noFill/>
            <a:ln w="31750">
              <a:pattFill prst="pct70">
                <a:fgClr>
                  <a:srgbClr val="820000"/>
                </a:fgClr>
                <a:bgClr>
                  <a:srgbClr val="2F2F2F"/>
                </a:bgClr>
              </a:pattFill>
              <a:round/>
              <a:headEnd/>
              <a:tailEnd/>
            </a:ln>
          </p:spPr>
          <p:txBody>
            <a:bodyPr wrap="none" anchor="ctr"/>
            <a:lstStyle/>
            <a:p>
              <a:endParaRPr lang="ru-RU"/>
            </a:p>
          </p:txBody>
        </p:sp>
      </p:grpSp>
      <p:grpSp>
        <p:nvGrpSpPr>
          <p:cNvPr id="3" name="Group 57"/>
          <p:cNvGrpSpPr>
            <a:grpSpLocks/>
          </p:cNvGrpSpPr>
          <p:nvPr/>
        </p:nvGrpSpPr>
        <p:grpSpPr bwMode="auto">
          <a:xfrm>
            <a:off x="179388" y="188913"/>
            <a:ext cx="8807450" cy="1555750"/>
            <a:chOff x="113" y="119"/>
            <a:chExt cx="5548" cy="980"/>
          </a:xfrm>
        </p:grpSpPr>
        <p:pic>
          <p:nvPicPr>
            <p:cNvPr id="27657" name="Picture 54" descr="00065934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113" y="119"/>
              <a:ext cx="5534" cy="9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7658" name="Picture 56" descr="zast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113" y="1026"/>
              <a:ext cx="5548" cy="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27653" name="Picture 7" descr="медаль золотая звезда Героя Советского Союза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3995738" y="2276475"/>
            <a:ext cx="1049337" cy="180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654" name="Picture 33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1187450" y="260350"/>
            <a:ext cx="4752975" cy="719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655" name="Picture 16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8532813" y="6381750"/>
            <a:ext cx="433387" cy="309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656" name="Picture 14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2843213" y="4076700"/>
            <a:ext cx="3328987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 advClick="0"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E:\Школа\Начальная школа\2014-2015\Воспитательная работа\Классный час\Чернобыль\look.com.ua-68179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611188" y="2492375"/>
            <a:ext cx="2246312" cy="3024188"/>
            <a:chOff x="295" y="300"/>
            <a:chExt cx="1179" cy="1588"/>
          </a:xfrm>
        </p:grpSpPr>
        <p:pic>
          <p:nvPicPr>
            <p:cNvPr id="28683" name="Picture 24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295" y="300"/>
              <a:ext cx="1179" cy="15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8684" name="Oval 25"/>
            <p:cNvSpPr>
              <a:spLocks noChangeArrowheads="1"/>
            </p:cNvSpPr>
            <p:nvPr/>
          </p:nvSpPr>
          <p:spPr bwMode="auto">
            <a:xfrm>
              <a:off x="295" y="300"/>
              <a:ext cx="1178" cy="1587"/>
            </a:xfrm>
            <a:prstGeom prst="ellipse">
              <a:avLst/>
            </a:prstGeom>
            <a:noFill/>
            <a:ln w="31750">
              <a:pattFill prst="pct70">
                <a:fgClr>
                  <a:srgbClr val="820000"/>
                </a:fgClr>
                <a:bgClr>
                  <a:srgbClr val="2F2F2F"/>
                </a:bgClr>
              </a:pattFill>
              <a:round/>
              <a:headEnd/>
              <a:tailEnd/>
            </a:ln>
          </p:spPr>
          <p:txBody>
            <a:bodyPr wrap="none" anchor="ctr"/>
            <a:lstStyle/>
            <a:p>
              <a:endParaRPr lang="ru-RU"/>
            </a:p>
          </p:txBody>
        </p:sp>
      </p:grpSp>
      <p:pic>
        <p:nvPicPr>
          <p:cNvPr id="28675" name="Picture 27" descr="06ab64f0903820214c93b33939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516688" y="2420938"/>
            <a:ext cx="2074862" cy="3455987"/>
          </a:xfrm>
          <a:prstGeom prst="rect">
            <a:avLst/>
          </a:prstGeom>
          <a:noFill/>
          <a:ln w="28575">
            <a:pattFill prst="pct70">
              <a:fgClr>
                <a:srgbClr val="820000"/>
              </a:fgClr>
              <a:bgClr>
                <a:srgbClr val="2F2F2F"/>
              </a:bgClr>
            </a:pattFill>
            <a:miter lim="800000"/>
            <a:headEnd/>
            <a:tailEnd/>
          </a:ln>
        </p:spPr>
      </p:pic>
      <p:grpSp>
        <p:nvGrpSpPr>
          <p:cNvPr id="3" name="Group 30"/>
          <p:cNvGrpSpPr>
            <a:grpSpLocks/>
          </p:cNvGrpSpPr>
          <p:nvPr/>
        </p:nvGrpSpPr>
        <p:grpSpPr bwMode="auto">
          <a:xfrm>
            <a:off x="179388" y="188913"/>
            <a:ext cx="8807450" cy="1555750"/>
            <a:chOff x="113" y="119"/>
            <a:chExt cx="5548" cy="980"/>
          </a:xfrm>
        </p:grpSpPr>
        <p:pic>
          <p:nvPicPr>
            <p:cNvPr id="28681" name="Picture 31" descr="00065934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113" y="119"/>
              <a:ext cx="5534" cy="9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8682" name="Picture 32" descr="zast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113" y="1026"/>
              <a:ext cx="5548" cy="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28677" name="Picture 36" descr="Hero_of_the_Russian_Federation_medal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3995738" y="2133600"/>
            <a:ext cx="920750" cy="180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78" name="Picture 14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2051050" y="188913"/>
            <a:ext cx="3960813" cy="1127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79" name="Picture 15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8532813" y="6381750"/>
            <a:ext cx="433387" cy="309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80" name="Picture 15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2916238" y="4076700"/>
            <a:ext cx="3328987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 advClick="0"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E:\Школа\Начальная школа\2014-2015\Воспитательная работа\Классный час\Чернобыль\look.com.ua-68179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 flipH="1">
            <a:off x="0" y="0"/>
            <a:ext cx="9144000" cy="6858000"/>
          </a:xfrm>
          <a:prstGeom prst="rect">
            <a:avLst/>
          </a:prstGeom>
          <a:noFill/>
        </p:spPr>
      </p:pic>
      <p:pic>
        <p:nvPicPr>
          <p:cNvPr id="15362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643042" y="0"/>
            <a:ext cx="5602696" cy="145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3" name="Picture 9" descr="04-06-Chernobyl_IK-1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14348" y="1357298"/>
            <a:ext cx="7623183" cy="5068427"/>
          </a:xfrm>
          <a:prstGeom prst="rect">
            <a:avLst/>
          </a:prstGeom>
          <a:noFill/>
          <a:ln w="28575">
            <a:pattFill prst="pct70">
              <a:fgClr>
                <a:srgbClr val="820000"/>
              </a:fgClr>
              <a:bgClr>
                <a:srgbClr val="2F2F2F"/>
              </a:bgClr>
            </a:pattFill>
            <a:miter lim="800000"/>
            <a:headEnd/>
            <a:tailEnd/>
          </a:ln>
        </p:spPr>
      </p:pic>
    </p:spTree>
    <p:custDataLst>
      <p:tags r:id="rId1"/>
    </p:custDataLst>
  </p:cSld>
  <p:clrMapOvr>
    <a:masterClrMapping/>
  </p:clrMapOvr>
  <p:transition spd="slow" advClick="0">
    <p:fad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E:\Школа\Начальная школа\2014-2015\Воспитательная работа\Классный час\Чернобыль\look.com.ua-68179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16386" name="AutoShape 6" descr="4209c2428a26"/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ru-RU"/>
          </a:p>
        </p:txBody>
      </p:sp>
      <p:pic>
        <p:nvPicPr>
          <p:cNvPr id="16387" name="Picture 10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30428" y="285728"/>
            <a:ext cx="8613572" cy="8096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88" name="Picture 12" descr="Арка на ЧАЭС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995738" y="3440112"/>
            <a:ext cx="4959702" cy="2846407"/>
          </a:xfrm>
          <a:prstGeom prst="rect">
            <a:avLst/>
          </a:prstGeom>
          <a:noFill/>
          <a:ln w="28575">
            <a:pattFill prst="pct70">
              <a:fgClr>
                <a:srgbClr val="820000"/>
              </a:fgClr>
              <a:bgClr>
                <a:srgbClr val="2F2F2F"/>
              </a:bgClr>
            </a:pattFill>
            <a:miter lim="800000"/>
            <a:headEnd/>
            <a:tailEnd/>
          </a:ln>
        </p:spPr>
      </p:pic>
      <p:pic>
        <p:nvPicPr>
          <p:cNvPr id="16389" name="Picture 16" descr="Строительство Арки на площадке ЧАЭС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08547" y="1142985"/>
            <a:ext cx="4434891" cy="2649554"/>
          </a:xfrm>
          <a:prstGeom prst="rect">
            <a:avLst/>
          </a:prstGeom>
          <a:noFill/>
          <a:ln w="28575">
            <a:pattFill prst="pct70">
              <a:fgClr>
                <a:srgbClr val="820000"/>
              </a:fgClr>
              <a:bgClr>
                <a:srgbClr val="2F2F2F"/>
              </a:bgClr>
            </a:pattFill>
            <a:miter lim="800000"/>
            <a:headEnd/>
            <a:tailEnd/>
          </a:ln>
        </p:spPr>
      </p:pic>
      <p:pic>
        <p:nvPicPr>
          <p:cNvPr id="16391" name="Picture 8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3500430" y="2428868"/>
            <a:ext cx="2076460" cy="18207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 advClick="0">
    <p:fad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E:\Школа\Начальная школа\2014-2015\Воспитательная работа\Классный час\Чернобыль\look.com.ua-68179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 flipH="1">
            <a:off x="0" y="0"/>
            <a:ext cx="9144000" cy="6858000"/>
          </a:xfrm>
          <a:prstGeom prst="rect">
            <a:avLst/>
          </a:prstGeom>
          <a:noFill/>
        </p:spPr>
      </p:pic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-9525"/>
            <a:ext cx="9144000" cy="686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435" name="Picture 2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143240" y="285728"/>
            <a:ext cx="2908354" cy="11690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2" name="Picture 29" descr="Рисунок7а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715008" y="428604"/>
            <a:ext cx="3134411" cy="22145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4" name="Picture 31" descr="Рисунок5а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285720" y="357166"/>
            <a:ext cx="3071834" cy="2226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5" name="Picture 32" descr="Рисунок4а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5857884" y="4485538"/>
            <a:ext cx="2982147" cy="21581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6" name="Picture 33" descr="Рисунок3а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357158" y="4357694"/>
            <a:ext cx="3071834" cy="22415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8" name="Picture 35" descr="Рисунок1а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1357290" y="2357430"/>
            <a:ext cx="3214710" cy="2370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436" name="Picture 28" descr="Рисунок8а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4643438" y="2357430"/>
            <a:ext cx="3214710" cy="23045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</p:cSld>
  <p:clrMapOvr>
    <a:masterClrMapping/>
  </p:clrMapOvr>
  <p:transition spd="slow" advClick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nodeType="withEffect">
                                  <p:stCondLst>
                                    <p:cond delay="15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14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nodeType="withEffect">
                                  <p:stCondLst>
                                    <p:cond delay="2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14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nodeType="withEffect">
                                  <p:stCondLst>
                                    <p:cond delay="28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14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nodeType="withEffect">
                                  <p:stCondLst>
                                    <p:cond delay="35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14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 descr="E:\Школа\Начальная школа\2014-2015\Воспитательная работа\Классный час\Чернобыль\look.com.ua-6817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pic>
        <p:nvPicPr>
          <p:cNvPr id="22530" name="Picture 1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71550" y="260350"/>
            <a:ext cx="7351713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531" name="Picture 26" descr="Рисунок8а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835150" y="1341438"/>
            <a:ext cx="5761038" cy="433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89" name="Picture 28" descr="Рисунок6а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835150" y="1341438"/>
            <a:ext cx="5761038" cy="4341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90" name="Picture 29" descr="Рисунок5а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835150" y="1341438"/>
            <a:ext cx="5761038" cy="4330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91" name="Picture 30" descr="Рисунок4а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835150" y="1341438"/>
            <a:ext cx="5761038" cy="4341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535" name="Picture 10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8532813" y="6381750"/>
            <a:ext cx="433387" cy="309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86" name="Picture 22" descr="c2b1aa9e6a83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1835150" y="1341438"/>
            <a:ext cx="5761038" cy="4321175"/>
          </a:xfrm>
          <a:prstGeom prst="rect">
            <a:avLst/>
          </a:prstGeom>
          <a:noFill/>
          <a:ln w="28575">
            <a:pattFill prst="pct70">
              <a:fgClr>
                <a:srgbClr val="820000"/>
              </a:fgClr>
              <a:bgClr>
                <a:srgbClr val="2F2F2F"/>
              </a:bgClr>
            </a:pattFill>
            <a:miter lim="800000"/>
            <a:headEnd/>
            <a:tailEnd/>
          </a:ln>
        </p:spPr>
      </p:pic>
      <p:pic>
        <p:nvPicPr>
          <p:cNvPr id="62484" name="Picture 20" descr="582fk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1835150" y="1341438"/>
            <a:ext cx="5832475" cy="4381500"/>
          </a:xfrm>
          <a:prstGeom prst="rect">
            <a:avLst/>
          </a:prstGeom>
          <a:noFill/>
          <a:ln w="28575">
            <a:pattFill prst="pct70">
              <a:fgClr>
                <a:srgbClr val="820000"/>
              </a:fgClr>
              <a:bgClr>
                <a:srgbClr val="2F2F2F"/>
              </a:bgClr>
            </a:pattFill>
            <a:miter lim="800000"/>
            <a:headEnd/>
            <a:tailEnd/>
          </a:ln>
        </p:spPr>
      </p:pic>
      <p:pic>
        <p:nvPicPr>
          <p:cNvPr id="16" name="Picture 34" descr="Рисунок10а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1763713" y="1268413"/>
            <a:ext cx="5975350" cy="4508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3635375" y="4508500"/>
            <a:ext cx="3889375" cy="1152525"/>
            <a:chOff x="2109" y="3067"/>
            <a:chExt cx="2450" cy="726"/>
          </a:xfrm>
        </p:grpSpPr>
        <p:sp>
          <p:nvSpPr>
            <p:cNvPr id="22540" name="AutoShape 16"/>
            <p:cNvSpPr>
              <a:spLocks noChangeArrowheads="1"/>
            </p:cNvSpPr>
            <p:nvPr/>
          </p:nvSpPr>
          <p:spPr bwMode="auto">
            <a:xfrm>
              <a:off x="2200" y="3067"/>
              <a:ext cx="2313" cy="726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bg1"/>
                </a:gs>
                <a:gs pos="100000">
                  <a:srgbClr val="F2F2F2">
                    <a:alpha val="70000"/>
                  </a:srgb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ru-RU"/>
            </a:p>
          </p:txBody>
        </p:sp>
        <p:pic>
          <p:nvPicPr>
            <p:cNvPr id="22541" name="Picture 23"/>
            <p:cNvPicPr>
              <a:picLocks noChangeAspect="1" noChangeArrowheads="1"/>
            </p:cNvPicPr>
            <p:nvPr/>
          </p:nvPicPr>
          <p:blipFill>
            <a:blip r:embed="rId12"/>
            <a:srcRect/>
            <a:stretch>
              <a:fillRect/>
            </a:stretch>
          </p:blipFill>
          <p:spPr bwMode="auto">
            <a:xfrm>
              <a:off x="2109" y="3067"/>
              <a:ext cx="2450" cy="7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 spd="slow" advClick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62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nodeType="withEffect">
                                  <p:stCondLst>
                                    <p:cond delay="12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62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nodeType="withEffect">
                                  <p:stCondLst>
                                    <p:cond delay="17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62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nodeType="withEffect">
                                  <p:stCondLst>
                                    <p:cond delay="2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62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nodeType="withEffect">
                                  <p:stCondLst>
                                    <p:cond delay="27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62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nodeType="withEffect">
                                  <p:stCondLst>
                                    <p:cond delay="32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0" fill="hold" nodeType="withEffect">
                                  <p:stCondLst>
                                    <p:cond delay="33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E:\Школа\Начальная школа\2014-2015\Воспитательная работа\Классный час\Чернобыль\look.com.ua-68179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 flipH="1">
            <a:off x="0" y="0"/>
            <a:ext cx="9144000" cy="6858000"/>
          </a:xfrm>
          <a:prstGeom prst="rect">
            <a:avLst/>
          </a:prstGeom>
          <a:noFill/>
        </p:spPr>
      </p:pic>
      <p:pic>
        <p:nvPicPr>
          <p:cNvPr id="29707" name="Picture 10" descr="6"/>
          <p:cNvPicPr>
            <a:picLocks noChangeAspect="1" noChangeArrowheads="1"/>
          </p:cNvPicPr>
          <p:nvPr/>
        </p:nvPicPr>
        <p:blipFill>
          <a:blip r:embed="rId4">
            <a:lum contrast="12000"/>
          </a:blip>
          <a:srcRect/>
          <a:stretch>
            <a:fillRect/>
          </a:stretch>
        </p:blipFill>
        <p:spPr bwMode="auto">
          <a:xfrm>
            <a:off x="3708400" y="2205038"/>
            <a:ext cx="4751388" cy="3560762"/>
          </a:xfrm>
          <a:prstGeom prst="rect">
            <a:avLst/>
          </a:prstGeom>
          <a:noFill/>
          <a:ln w="28575">
            <a:pattFill prst="pct70">
              <a:fgClr>
                <a:srgbClr val="820000"/>
              </a:fgClr>
              <a:bgClr>
                <a:srgbClr val="2F2F2F"/>
              </a:bgClr>
            </a:pattFill>
            <a:miter lim="800000"/>
            <a:headEnd/>
            <a:tailEnd/>
          </a:ln>
        </p:spPr>
      </p:pic>
      <p:pic>
        <p:nvPicPr>
          <p:cNvPr id="29699" name="Picture 54" descr="00065934"/>
          <p:cNvPicPr>
            <a:picLocks noChangeAspect="1" noChangeArrowheads="1"/>
          </p:cNvPicPr>
          <p:nvPr/>
        </p:nvPicPr>
        <p:blipFill>
          <a:blip r:embed="rId5">
            <a:lum bright="60000" contrast="-60000"/>
          </a:blip>
          <a:srcRect/>
          <a:stretch>
            <a:fillRect/>
          </a:stretch>
        </p:blipFill>
        <p:spPr bwMode="auto">
          <a:xfrm>
            <a:off x="179388" y="188913"/>
            <a:ext cx="8785225" cy="131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700" name="Picture 56" descr="zast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79388" y="1484313"/>
            <a:ext cx="8785225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702" name="Picture 7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827088" y="188913"/>
            <a:ext cx="7777162" cy="1279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703" name="Picture 10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468313" y="1916113"/>
            <a:ext cx="3044825" cy="416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708" name="Picture 12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3924300" y="1916113"/>
            <a:ext cx="4249738" cy="419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slow" advClick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afterEffect">
                                  <p:stCondLst>
                                    <p:cond delay="9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297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53" presetClass="entr" presetSubtype="0" fill="hold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97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97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9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Рисунок 1" descr="10.jpg"/>
          <p:cNvPicPr>
            <a:picLocks noChangeAspect="1"/>
          </p:cNvPicPr>
          <p:nvPr/>
        </p:nvPicPr>
        <p:blipFill>
          <a:blip r:embed="rId2"/>
          <a:srcRect b="4688"/>
          <a:stretch>
            <a:fillRect/>
          </a:stretch>
        </p:blipFill>
        <p:spPr bwMode="auto">
          <a:xfrm>
            <a:off x="173038" y="285750"/>
            <a:ext cx="8693150" cy="6215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Прямоугольник 2"/>
          <p:cNvSpPr/>
          <p:nvPr/>
        </p:nvSpPr>
        <p:spPr>
          <a:xfrm>
            <a:off x="428625" y="4429125"/>
            <a:ext cx="8072438" cy="22145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 descr="E:\Школа\Начальная школа\2014-2015\Воспитательная работа\Классный час\Чернобыль\look.com.ua-68179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 flipH="1">
            <a:off x="0" y="0"/>
            <a:ext cx="9144000" cy="6858000"/>
          </a:xfrm>
          <a:prstGeom prst="rect">
            <a:avLst/>
          </a:prstGeom>
          <a:noFill/>
        </p:spPr>
      </p:pic>
      <p:pic>
        <p:nvPicPr>
          <p:cNvPr id="242706" name="Picture 18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924300" y="0"/>
            <a:ext cx="5048250" cy="7346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2708" name="Picture 20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924300" y="0"/>
            <a:ext cx="5003800" cy="682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7598" name="Picture 14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924300" y="1773238"/>
            <a:ext cx="4651375" cy="289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 useBgFill="1">
        <p:nvSpPr>
          <p:cNvPr id="67589" name="Rectangle 5"/>
          <p:cNvSpPr>
            <a:spLocks noChangeArrowheads="1"/>
          </p:cNvSpPr>
          <p:nvPr/>
        </p:nvSpPr>
        <p:spPr bwMode="auto">
          <a:xfrm>
            <a:off x="4067175" y="1557338"/>
            <a:ext cx="4897438" cy="5300662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pic>
        <p:nvPicPr>
          <p:cNvPr id="32774" name="Picture 54" descr="00065934"/>
          <p:cNvPicPr>
            <a:picLocks noChangeAspect="1" noChangeArrowheads="1"/>
          </p:cNvPicPr>
          <p:nvPr/>
        </p:nvPicPr>
        <p:blipFill>
          <a:blip r:embed="rId7">
            <a:lum bright="60000" contrast="-60000"/>
          </a:blip>
          <a:srcRect/>
          <a:stretch>
            <a:fillRect/>
          </a:stretch>
        </p:blipFill>
        <p:spPr bwMode="auto">
          <a:xfrm>
            <a:off x="203200" y="0"/>
            <a:ext cx="8940800" cy="1503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179388" y="188913"/>
            <a:ext cx="8785225" cy="1439862"/>
            <a:chOff x="0" y="119"/>
            <a:chExt cx="5760" cy="906"/>
          </a:xfrm>
        </p:grpSpPr>
        <p:pic>
          <p:nvPicPr>
            <p:cNvPr id="32783" name="Picture 56" descr="zast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0" y="935"/>
              <a:ext cx="5760" cy="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2784" name="Picture 15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158" y="119"/>
              <a:ext cx="5407" cy="7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32776" name="Picture 10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7812088" y="0"/>
            <a:ext cx="1331912" cy="998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777" name="Picture 8" descr="5lfl-2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611188" y="2565400"/>
            <a:ext cx="2414587" cy="3457575"/>
          </a:xfrm>
          <a:prstGeom prst="rect">
            <a:avLst/>
          </a:prstGeom>
          <a:noFill/>
          <a:ln w="28575">
            <a:pattFill prst="pct70">
              <a:fgClr>
                <a:srgbClr val="820000"/>
              </a:fgClr>
              <a:bgClr>
                <a:srgbClr val="2F2F2F"/>
              </a:bgClr>
            </a:pattFill>
            <a:miter lim="800000"/>
            <a:headEnd/>
            <a:tailEnd/>
          </a:ln>
        </p:spPr>
      </p:pic>
      <p:pic>
        <p:nvPicPr>
          <p:cNvPr id="32781" name="Picture 16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539750" y="2420938"/>
            <a:ext cx="2568575" cy="3671887"/>
          </a:xfrm>
          <a:prstGeom prst="rect">
            <a:avLst/>
          </a:prstGeom>
          <a:noFill/>
          <a:ln w="28575">
            <a:pattFill prst="pct70">
              <a:fgClr>
                <a:srgbClr val="820000"/>
              </a:fgClr>
              <a:bgClr>
                <a:srgbClr val="2F2F2F"/>
              </a:bgClr>
            </a:pattFill>
            <a:miter lim="800000"/>
            <a:headEnd/>
            <a:tailEnd/>
          </a:ln>
        </p:spPr>
      </p:pic>
      <p:pic>
        <p:nvPicPr>
          <p:cNvPr id="32785" name="Picture 8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3563938" y="2133600"/>
            <a:ext cx="5292725" cy="128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782" name="Picture 21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395288" y="1773238"/>
            <a:ext cx="3529012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787" name="Picture 19" descr="10">
            <a:hlinkClick r:id="rId15"/>
          </p:cNvPr>
          <p:cNvPicPr>
            <a:picLocks noChangeAspect="1" noChangeArrowheads="1" noCrop="1"/>
          </p:cNvPicPr>
          <p:nvPr/>
        </p:nvPicPr>
        <p:blipFill>
          <a:blip r:embed="rId16"/>
          <a:srcRect/>
          <a:stretch>
            <a:fillRect/>
          </a:stretch>
        </p:blipFill>
        <p:spPr bwMode="auto">
          <a:xfrm>
            <a:off x="4140200" y="3500438"/>
            <a:ext cx="4033838" cy="2603500"/>
          </a:xfrm>
          <a:prstGeom prst="rect">
            <a:avLst/>
          </a:prstGeom>
          <a:noFill/>
        </p:spPr>
      </p:pic>
    </p:spTree>
  </p:cSld>
  <p:clrMapOvr>
    <a:masterClrMapping/>
  </p:clrMapOvr>
  <p:transition spd="slow" advClick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8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25000" fill="hold"/>
                                        <p:tgtEl>
                                          <p:spTgt spid="2427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00" fill="hold"/>
                                        <p:tgtEl>
                                          <p:spTgt spid="2427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8" presetClass="entr" presetSubtype="0" fill="hold" nodeType="withEffect">
                                  <p:stCondLst>
                                    <p:cond delay="12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5000" fill="hold"/>
                                        <p:tgtEl>
                                          <p:spTgt spid="2427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00" fill="hold"/>
                                        <p:tgtEl>
                                          <p:spTgt spid="2427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8" presetClass="entr" presetSubtype="0" fill="hold" nodeType="withEffect">
                                  <p:stCondLst>
                                    <p:cond delay="218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25000" fill="hold"/>
                                        <p:tgtEl>
                                          <p:spTgt spid="67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5000" fill="hold"/>
                                        <p:tgtEl>
                                          <p:spTgt spid="67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53" presetClass="entr" presetSubtype="0" fill="hold" nodeType="withEffect">
                                  <p:stCondLst>
                                    <p:cond delay="39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327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327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32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40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2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0" fill="hold" nodeType="withEffect">
                                  <p:stCondLst>
                                    <p:cond delay="42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27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27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2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4" name="Picture 2" descr="E:\Школа\Начальная школа\2014-2015\Воспитательная работа\Классный час\Чернобыль\0_378a9_c537a05f_L.gif"/>
          <p:cNvPicPr>
            <a:picLocks noChangeAspect="1" noChangeArrowheads="1" noCrop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929454"/>
          </a:xfrm>
          <a:prstGeom prst="rect">
            <a:avLst/>
          </a:prstGeom>
          <a:noFill/>
        </p:spPr>
      </p:pic>
    </p:spTree>
  </p:cSld>
  <p:clrMapOvr>
    <a:masterClrMapping/>
  </p:clrMapOvr>
  <p:transition spd="slow" advClick="0">
    <p:fad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2|0.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"/>
</p:tagLst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34</Words>
  <Application>Microsoft Office PowerPoint</Application>
  <PresentationFormat>Экран (4:3)</PresentationFormat>
  <Paragraphs>12</Paragraphs>
  <Slides>31</Slides>
  <Notes>9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31</vt:i4>
      </vt:variant>
    </vt:vector>
  </HeadingPairs>
  <TitlesOfParts>
    <vt:vector size="32" baseType="lpstr">
      <vt:lpstr>Тема Office</vt:lpstr>
      <vt:lpstr>Презентация PowerPoint</vt:lpstr>
      <vt:lpstr>Презентация PowerPoint</vt:lpstr>
      <vt:lpstr>Обычный город, обычный день ….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Reanimator Extreme Edition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Вика</dc:creator>
  <cp:lastModifiedBy>Оля Мисюрина</cp:lastModifiedBy>
  <cp:revision>16</cp:revision>
  <dcterms:created xsi:type="dcterms:W3CDTF">2015-04-16T13:38:31Z</dcterms:created>
  <dcterms:modified xsi:type="dcterms:W3CDTF">2020-04-30T04:33:15Z</dcterms:modified>
</cp:coreProperties>
</file>