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59" r:id="rId4"/>
    <p:sldId id="261" r:id="rId5"/>
    <p:sldId id="260" r:id="rId6"/>
    <p:sldId id="258" r:id="rId7"/>
    <p:sldId id="262" r:id="rId8"/>
    <p:sldId id="263" r:id="rId9"/>
    <p:sldId id="265" r:id="rId10"/>
    <p:sldId id="264" r:id="rId11"/>
    <p:sldId id="267" r:id="rId12"/>
    <p:sldId id="278" r:id="rId13"/>
    <p:sldId id="279" r:id="rId14"/>
    <p:sldId id="282" r:id="rId15"/>
    <p:sldId id="280" r:id="rId16"/>
    <p:sldId id="288" r:id="rId17"/>
    <p:sldId id="289" r:id="rId18"/>
    <p:sldId id="269" r:id="rId19"/>
    <p:sldId id="284" r:id="rId20"/>
    <p:sldId id="270" r:id="rId21"/>
    <p:sldId id="283" r:id="rId22"/>
    <p:sldId id="286" r:id="rId23"/>
    <p:sldId id="287" r:id="rId24"/>
    <p:sldId id="290" r:id="rId25"/>
    <p:sldId id="256" r:id="rId26"/>
    <p:sldId id="285" r:id="rId27"/>
  </p:sldIdLst>
  <p:sldSz cx="9144000" cy="6858000" type="screen4x3"/>
  <p:notesSz cx="6735763" cy="98694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5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961926"/>
      </p:ext>
    </p:extLst>
  </p:cSld>
  <p:clrMapOvr>
    <a:masterClrMapping/>
  </p:clrMapOvr>
  <p:transition spd="slow">
    <p:pull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418561"/>
      </p:ext>
    </p:extLst>
  </p:cSld>
  <p:clrMapOvr>
    <a:masterClrMapping/>
  </p:clrMapOvr>
  <p:transition spd="slow"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007440"/>
      </p:ext>
    </p:extLst>
  </p:cSld>
  <p:clrMapOvr>
    <a:masterClrMapping/>
  </p:clrMapOvr>
  <p:transition spd="slow"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069117"/>
      </p:ext>
    </p:extLst>
  </p:cSld>
  <p:clrMapOvr>
    <a:masterClrMapping/>
  </p:clrMapOvr>
  <p:transition spd="slow"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824720"/>
      </p:ext>
    </p:extLst>
  </p:cSld>
  <p:clrMapOvr>
    <a:masterClrMapping/>
  </p:clrMapOvr>
  <p:transition spd="slow"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57527"/>
      </p:ext>
    </p:extLst>
  </p:cSld>
  <p:clrMapOvr>
    <a:masterClrMapping/>
  </p:clrMapOvr>
  <p:transition spd="slow"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62668"/>
      </p:ext>
    </p:extLst>
  </p:cSld>
  <p:clrMapOvr>
    <a:masterClrMapping/>
  </p:clrMapOvr>
  <p:transition spd="slow"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257915"/>
      </p:ext>
    </p:extLst>
  </p:cSld>
  <p:clrMapOvr>
    <a:masterClrMapping/>
  </p:clrMapOvr>
  <p:transition spd="slow"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870421"/>
      </p:ext>
    </p:extLst>
  </p:cSld>
  <p:clrMapOvr>
    <a:masterClrMapping/>
  </p:clrMapOvr>
  <p:transition spd="slow"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830874"/>
      </p:ext>
    </p:extLst>
  </p:cSld>
  <p:clrMapOvr>
    <a:masterClrMapping/>
  </p:clrMapOvr>
  <p:transition spd="slow"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696462"/>
      </p:ext>
    </p:extLst>
  </p:cSld>
  <p:clrMapOvr>
    <a:masterClrMapping/>
  </p:clrMapOvr>
  <p:transition spd="slow"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B398A-3912-452A-A356-E725FF57E155}" type="datetimeFigureOut">
              <a:rPr lang="ru-RU" smtClean="0"/>
              <a:pPr/>
              <a:t>26.03.2020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7AE7D-FEF9-4937-AF6D-0814C1E901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519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ll dir="r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s020.radikal.ru/i710/1302/97/5836754b33a3.png" TargetMode="External"/><Relationship Id="rId2" Type="http://schemas.openxmlformats.org/officeDocument/2006/relationships/hyperlink" Target="http://cap.ru/UserFiles/orgs/GrvId_67/pobeda2.jpg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img-fotki.yandex.ru/get/9745/97761520.1fa/0_84980_437031ed_L.jp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arheroes.ru/hero/hero.asp?Hero_id=253" TargetMode="External"/><Relationship Id="rId2" Type="http://schemas.openxmlformats.org/officeDocument/2006/relationships/hyperlink" Target="http://airaces.narod.ru/all1/borovyh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kot-or-osl.livejournal.com/236386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47664" y="2028904"/>
            <a:ext cx="6660232" cy="923330"/>
          </a:xfrm>
          <a:prstGeom prst="rect">
            <a:avLst/>
          </a:prstGeom>
          <a:effectLst>
            <a:softEdge rad="12700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i="1" dirty="0" smtClean="0">
                <a:ln w="17780" cmpd="sng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</a:t>
            </a:r>
            <a:endParaRPr lang="ru-RU" sz="5400" b="1" i="1" dirty="0">
              <a:ln w="17780" cmpd="sng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7824" y="6126146"/>
            <a:ext cx="3030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353616"/>
                </a:solidFill>
              </a:rPr>
              <a:t> </a:t>
            </a:r>
            <a:endParaRPr lang="ru-RU" sz="1200" dirty="0">
              <a:solidFill>
                <a:srgbClr val="353616"/>
              </a:solidFill>
            </a:endParaRPr>
          </a:p>
        </p:txBody>
      </p:sp>
      <p:pic>
        <p:nvPicPr>
          <p:cNvPr id="1028" name="Picture 4" descr="http://images.webpark.ru/uploads54/100225/Hero_17.jpg"/>
          <p:cNvPicPr>
            <a:picLocks noChangeAspect="1" noChangeArrowheads="1"/>
          </p:cNvPicPr>
          <p:nvPr/>
        </p:nvPicPr>
        <p:blipFill>
          <a:blip r:embed="rId3"/>
          <a:srcRect b="14285"/>
          <a:stretch>
            <a:fillRect/>
          </a:stretch>
        </p:blipFill>
        <p:spPr bwMode="auto">
          <a:xfrm>
            <a:off x="571472" y="2571744"/>
            <a:ext cx="2809578" cy="34290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Прямоугольник 7"/>
          <p:cNvSpPr/>
          <p:nvPr/>
        </p:nvSpPr>
        <p:spPr>
          <a:xfrm>
            <a:off x="3571868" y="3039055"/>
            <a:ext cx="478634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 Narrow" pitchFamily="34" charset="0"/>
              </a:rPr>
              <a:t>Название:</a:t>
            </a:r>
          </a:p>
          <a:p>
            <a:pPr algn="ctr"/>
            <a:r>
              <a:rPr lang="ru-RU" sz="2000" b="1" dirty="0" smtClean="0">
                <a:ln w="1905"/>
                <a:solidFill>
                  <a:schemeClr val="accent6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mbria Math" pitchFamily="18" charset="0"/>
                <a:ea typeface="Cambria Math" pitchFamily="18" charset="0"/>
              </a:rPr>
              <a:t>Летные</a:t>
            </a:r>
            <a:r>
              <a:rPr lang="ru-RU" sz="2000" b="1" dirty="0" smtClean="0">
                <a:ln w="1905"/>
                <a:solidFill>
                  <a:schemeClr val="accent6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 Narrow" pitchFamily="34" charset="0"/>
              </a:rPr>
              <a:t> лики</a:t>
            </a:r>
          </a:p>
          <a:p>
            <a:pPr algn="ctr"/>
            <a:r>
              <a:rPr lang="ru-RU" sz="2000" b="1" dirty="0" smtClean="0">
                <a:ln w="1905"/>
                <a:solidFill>
                  <a:schemeClr val="accent6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 Narrow" pitchFamily="34" charset="0"/>
              </a:rPr>
              <a:t>(о жизни и деятельности А.Е. Боровых </a:t>
            </a:r>
            <a:r>
              <a:rPr lang="ru-RU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 Narrow" pitchFamily="34" charset="0"/>
              </a:rPr>
              <a:t>)</a:t>
            </a:r>
            <a:r>
              <a:rPr lang="en-US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 Narrow" pitchFamily="34" charset="0"/>
              </a:rPr>
              <a:t> </a:t>
            </a:r>
            <a:endParaRPr lang="ru-RU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 Narrow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2910" y="5857892"/>
            <a:ext cx="338746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onotype Corsiva" pitchFamily="66" charset="0"/>
              </a:rPr>
              <a:t>Дважды Герой Советского Союза</a:t>
            </a:r>
          </a:p>
          <a:p>
            <a:pPr algn="ctr"/>
            <a:r>
              <a:rPr lang="ru-RU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onotype Corsiva" pitchFamily="66" charset="0"/>
              </a:rPr>
              <a:t>Боровых   Андрей  Егорович</a:t>
            </a:r>
            <a:endParaRPr lang="ru-RU" sz="2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Monotype Corsiva" pitchFamily="66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000496" y="1000109"/>
            <a:ext cx="40719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mbria Math" pitchFamily="18" charset="0"/>
                <a:ea typeface="Cambria Math" pitchFamily="18" charset="0"/>
              </a:rPr>
              <a:t>«Конкурс презентаций </a:t>
            </a:r>
          </a:p>
          <a:p>
            <a:pPr algn="ctr"/>
            <a:r>
              <a:rPr lang="ru-RU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mbria Math" pitchFamily="18" charset="0"/>
                <a:ea typeface="Cambria Math" pitchFamily="18" charset="0"/>
              </a:rPr>
              <a:t>«Великие люди России»</a:t>
            </a:r>
            <a:endParaRPr lang="ru-RU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643306" y="1928802"/>
            <a:ext cx="492922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latin typeface="Cambria" pitchFamily="18" charset="0"/>
              </a:rPr>
              <a:t>Номинация:</a:t>
            </a:r>
            <a:r>
              <a:rPr lang="ru-RU" sz="1400" dirty="0" smtClean="0">
                <a:latin typeface="Cambria" pitchFamily="18" charset="0"/>
              </a:rPr>
              <a:t/>
            </a:r>
            <a:br>
              <a:rPr lang="ru-RU" sz="1400" dirty="0" smtClean="0">
                <a:latin typeface="Cambria" pitchFamily="18" charset="0"/>
              </a:rPr>
            </a:br>
            <a:r>
              <a:rPr lang="ru-RU" sz="1400" dirty="0" smtClean="0">
                <a:latin typeface="Cambria" pitchFamily="18" charset="0"/>
              </a:rPr>
              <a:t>Великие государственные и политические деятели, великие военные</a:t>
            </a:r>
            <a:endParaRPr lang="ru-RU" sz="1400" dirty="0">
              <a:latin typeface="Cambria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6500834"/>
            <a:ext cx="914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mbria" pitchFamily="18" charset="0"/>
              </a:rPr>
              <a:t>Сайт «Сообщество взаимопомощи учителей </a:t>
            </a:r>
            <a:r>
              <a:rPr lang="en-US" sz="14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mbria" pitchFamily="18" charset="0"/>
              </a:rPr>
              <a:t>Pedsovet.su</a:t>
            </a:r>
            <a:r>
              <a:rPr lang="ru-RU" sz="1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mbria" pitchFamily="18" charset="0"/>
              </a:rPr>
              <a:t>»</a:t>
            </a:r>
            <a:endParaRPr lang="ru-RU" sz="1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7779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Боровых Андрей Егорович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857232"/>
            <a:ext cx="2857500" cy="4286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Прямоугольник 2"/>
          <p:cNvSpPr/>
          <p:nvPr/>
        </p:nvSpPr>
        <p:spPr>
          <a:xfrm>
            <a:off x="1142976" y="5286388"/>
            <a:ext cx="63579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Cambria Math" pitchFamily="18" charset="0"/>
                <a:ea typeface="Cambria Math" pitchFamily="18" charset="0"/>
              </a:rPr>
              <a:t>(30 октября 1921, Курск — 7 ноября 1989, Москва) — участник Великой Отечественной войны, дважды Герой Советского Союза, генерал-полковник авиации, командующий авиацией Войск ПВО СССР (1969—1977).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28860" y="357166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Боровых Андрей Егорович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Боровых Андрей Егорович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родился 30 октября 1921 года в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Курске, в семье рабочего. Семья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Андрея Боровых жила в слободе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Казацкой, в небольшом доме.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Окончил среднюю школу в 1936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году ( на сегодняшний момент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это МБОУ «СОШ №14» города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Курска). </a:t>
            </a: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Потом поступил на курсы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шоферов и работал в Курске по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специальности. Одновременно   занимался в Курском </a:t>
            </a:r>
            <a:endParaRPr lang="en-US" dirty="0" smtClean="0">
              <a:latin typeface="Cambria Math" pitchFamily="18" charset="0"/>
              <a:ea typeface="Cambria Math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Cambria Math" pitchFamily="18" charset="0"/>
                <a:ea typeface="Cambria Math" pitchFamily="18" charset="0"/>
              </a:rPr>
              <a:t>аэроклубе, который окончил в 1937 году. 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00174"/>
            <a:ext cx="3087387" cy="42862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214554"/>
            <a:ext cx="42862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214282" y="5072073"/>
            <a:ext cx="4286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chemeClr val="accent2">
                    <a:lumMod val="50000"/>
                  </a:schemeClr>
                </a:solidFill>
                <a:latin typeface="Monotype Corsiva" pitchFamily="66" charset="0"/>
              </a:rPr>
              <a:t>Здание аэроклуба на углу улиц  Красной Армии и А. Невского. Город  Курск</a:t>
            </a:r>
            <a:endParaRPr lang="ru-RU" b="1" dirty="0">
              <a:solidFill>
                <a:schemeClr val="accent2">
                  <a:lumMod val="50000"/>
                </a:schemeClr>
              </a:solidFill>
              <a:latin typeface="Monotype Corsiva" pitchFamily="66" charset="0"/>
            </a:endParaRPr>
          </a:p>
        </p:txBody>
      </p:sp>
      <p:pic>
        <p:nvPicPr>
          <p:cNvPr id="4" name="Picture 2" descr="http://planetavvs.ru/wp-content/uploads/2014/06/borovyh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1071546"/>
            <a:ext cx="4009018" cy="26860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Прямоугольник 4"/>
          <p:cNvSpPr/>
          <p:nvPr/>
        </p:nvSpPr>
        <p:spPr>
          <a:xfrm>
            <a:off x="4929190" y="4214819"/>
            <a:ext cx="40719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  Здесь его приметили инструкторы и  направили в летную школу.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https://antikvariat.ru/upload/resize_cache/iblock/2a5/660_660_1/oktober_634.jpg"/>
          <p:cNvPicPr/>
          <p:nvPr/>
        </p:nvPicPr>
        <p:blipFill>
          <a:blip r:embed="rId2"/>
          <a:srcRect l="16195" t="5341" r="17263" b="6197"/>
          <a:stretch>
            <a:fillRect/>
          </a:stretch>
        </p:blipFill>
        <p:spPr bwMode="auto">
          <a:xfrm>
            <a:off x="6357950" y="4286256"/>
            <a:ext cx="2666991" cy="2443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http://jokeroro.narod.ru/844.jpg"/>
          <p:cNvPicPr/>
          <p:nvPr/>
        </p:nvPicPr>
        <p:blipFill>
          <a:blip r:embed="rId3"/>
          <a:srcRect l="3468" t="6170" r="4046" b="6684"/>
          <a:stretch>
            <a:fillRect/>
          </a:stretch>
        </p:blipFill>
        <p:spPr bwMode="auto">
          <a:xfrm>
            <a:off x="2357422" y="214290"/>
            <a:ext cx="457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500298" y="3571876"/>
            <a:ext cx="4000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 smtClean="0">
                <a:solidFill>
                  <a:schemeClr val="accent6">
                    <a:lumMod val="75000"/>
                  </a:schemeClr>
                </a:solidFill>
                <a:latin typeface="Monotype Corsiva" pitchFamily="66" charset="0"/>
              </a:rPr>
              <a:t>Чугуевское</a:t>
            </a:r>
            <a:r>
              <a:rPr lang="ru-RU" sz="2000" b="1" dirty="0" smtClean="0">
                <a:solidFill>
                  <a:schemeClr val="accent6">
                    <a:lumMod val="75000"/>
                  </a:schemeClr>
                </a:solidFill>
                <a:latin typeface="Monotype Corsiva" pitchFamily="66" charset="0"/>
              </a:rPr>
              <a:t> военное училище</a:t>
            </a:r>
            <a:endParaRPr lang="ru-RU" sz="2000" b="1" dirty="0">
              <a:solidFill>
                <a:schemeClr val="accent6">
                  <a:lumMod val="75000"/>
                </a:schemeClr>
              </a:solidFill>
              <a:latin typeface="Monotype Corsiva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86512" y="3714753"/>
            <a:ext cx="2857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  <a:latin typeface="Monotype Corsiva" pitchFamily="66" charset="0"/>
                <a:ea typeface="Microsoft Himalaya" pitchFamily="2" charset="0"/>
                <a:cs typeface="Microsoft Himalaya" pitchFamily="2" charset="0"/>
              </a:rPr>
              <a:t>Знак  </a:t>
            </a:r>
            <a:r>
              <a:rPr lang="ru-RU" b="1" dirty="0" err="1" smtClean="0">
                <a:solidFill>
                  <a:schemeClr val="accent6">
                    <a:lumMod val="75000"/>
                  </a:schemeClr>
                </a:solidFill>
                <a:latin typeface="Monotype Corsiva" pitchFamily="66" charset="0"/>
                <a:ea typeface="Microsoft Himalaya" pitchFamily="2" charset="0"/>
                <a:cs typeface="Microsoft Himalaya" pitchFamily="2" charset="0"/>
              </a:rPr>
              <a:t>Чугуевского</a:t>
            </a:r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  <a:latin typeface="Monotype Corsiva" pitchFamily="66" charset="0"/>
                <a:ea typeface="Microsoft Himalaya" pitchFamily="2" charset="0"/>
                <a:cs typeface="Microsoft Himalaya" pitchFamily="2" charset="0"/>
              </a:rPr>
              <a:t> военного училища</a:t>
            </a:r>
            <a:endParaRPr lang="ru-RU" b="1" dirty="0">
              <a:solidFill>
                <a:schemeClr val="accent6">
                  <a:lumMod val="75000"/>
                </a:schemeClr>
              </a:solidFill>
              <a:latin typeface="Monotype Corsiva" pitchFamily="66" charset="0"/>
              <a:ea typeface="Microsoft Himalaya" pitchFamily="2" charset="0"/>
              <a:cs typeface="Microsoft Himalaya" pitchFamily="2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42910" y="4286256"/>
            <a:ext cx="51435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В 1940 году Боровых А.Е. поступил  в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Чугуевское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 военное училище летчиков, переименованное в марте 1941 года в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Чугуевскую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 военную авиационную школу, которую он окончил в том же году. Здесь же его оставили в качестве инструктора до декабря 1941 года. </a:t>
            </a:r>
            <a:endParaRPr lang="ru-RU" sz="2000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 smtClean="0">
                <a:solidFill>
                  <a:schemeClr val="accent2">
                    <a:lumMod val="75000"/>
                  </a:schemeClr>
                </a:solidFill>
                <a:latin typeface="Monotype Corsiva" pitchFamily="66" charset="0"/>
              </a:rPr>
              <a:t>Боевой путь</a:t>
            </a:r>
            <a:endParaRPr lang="ru-RU" sz="5400" dirty="0">
              <a:solidFill>
                <a:schemeClr val="accent2">
                  <a:lumMod val="75000"/>
                </a:schemeClr>
              </a:solidFill>
              <a:latin typeface="Monotype Corsiva" pitchFamily="66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72098"/>
          </a:xfrm>
        </p:spPr>
        <p:txBody>
          <a:bodyPr/>
          <a:lstStyle/>
          <a:p>
            <a:pPr>
              <a:buNone/>
            </a:pPr>
            <a:r>
              <a:rPr lang="ru-RU" sz="2000" b="1" dirty="0" smtClean="0">
                <a:solidFill>
                  <a:schemeClr val="accent2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С декабря 1941 года сержант А. Е. Боровых  на фронтах Великой</a:t>
            </a:r>
          </a:p>
          <a:p>
            <a:pPr>
              <a:buNone/>
            </a:pPr>
            <a:r>
              <a:rPr lang="ru-RU" sz="2000" b="1" dirty="0" smtClean="0">
                <a:solidFill>
                  <a:schemeClr val="accent2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Отечественной войны.  Прошёл путь от рядового лётчика до  </a:t>
            </a:r>
          </a:p>
          <a:p>
            <a:pPr>
              <a:buNone/>
            </a:pPr>
            <a:r>
              <a:rPr lang="ru-RU" sz="2000" b="1" dirty="0" smtClean="0">
                <a:solidFill>
                  <a:schemeClr val="accent2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заместителя командира полка.</a:t>
            </a:r>
            <a:endParaRPr lang="ru-RU" sz="2000" dirty="0" smtClean="0">
              <a:solidFill>
                <a:schemeClr val="accent2">
                  <a:lumMod val="75000"/>
                </a:schemeClr>
              </a:solidFill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ru-RU" sz="1800" dirty="0" smtClean="0">
                <a:latin typeface="Monotype Corsiva" pitchFamily="66" charset="0"/>
              </a:rPr>
              <a:t> </a:t>
            </a:r>
            <a:endParaRPr lang="ru-RU" sz="1800" dirty="0">
              <a:latin typeface="Monotype Corsiva" pitchFamily="66" charset="0"/>
            </a:endParaRPr>
          </a:p>
        </p:txBody>
      </p:sp>
      <p:pic>
        <p:nvPicPr>
          <p:cNvPr id="5" name="Рисунок 4" descr="http://artyushenkooleg.ru/wp-oleg/wp-content/uploads/2015/12/kozhedub-golovachev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571744"/>
            <a:ext cx="5214974" cy="35468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0402696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798496"/>
          </a:xfrm>
        </p:spPr>
        <p:txBody>
          <a:bodyPr>
            <a:normAutofit/>
          </a:bodyPr>
          <a:lstStyle/>
          <a:p>
            <a:pPr algn="ctr"/>
            <a:r>
              <a:rPr lang="ru-RU" sz="2800" dirty="0" smtClean="0">
                <a:solidFill>
                  <a:schemeClr val="accent2">
                    <a:lumMod val="75000"/>
                  </a:schemeClr>
                </a:solidFill>
                <a:latin typeface="Monotype Corsiva" pitchFamily="66" charset="0"/>
              </a:rPr>
              <a:t>Боевой путь</a:t>
            </a:r>
            <a:endParaRPr lang="ru-RU" sz="2800" dirty="0">
              <a:solidFill>
                <a:schemeClr val="accent2">
                  <a:lumMod val="75000"/>
                </a:schemeClr>
              </a:solidFill>
              <a:latin typeface="Monotype Corsiva" pitchFamily="66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28992" y="142852"/>
            <a:ext cx="5500726" cy="6572296"/>
          </a:xfrm>
        </p:spPr>
        <p:txBody>
          <a:bodyPr>
            <a:normAutofit/>
          </a:bodyPr>
          <a:lstStyle/>
          <a:p>
            <a:pPr>
              <a:buNone/>
            </a:pPr>
            <a:endParaRPr lang="ru-RU" sz="1800" dirty="0">
              <a:latin typeface="Monotype Corsiva" pitchFamily="66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214282" y="1214422"/>
            <a:ext cx="3251231" cy="5429288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Первый боевой опыт получил  на Калининском фронте  в ходе зимней наступательной операции конца 1941 года - начала 1942 года. Первую победу он одержал в первом же бою. 8 боевых вылетов, совершенных  им  в составе 728 истребительного авиационного полка, принесли 3 победы, он был назначен командиром звена, награжден орденом Красного Знамени. Вскоре летчик провел воздушный бой в районе </a:t>
            </a:r>
            <a:r>
              <a:rPr lang="ru-RU" sz="1600" dirty="0" err="1" smtClean="0">
                <a:latin typeface="Cambria Math" pitchFamily="18" charset="0"/>
                <a:ea typeface="Cambria Math" pitchFamily="18" charset="0"/>
              </a:rPr>
              <a:t>Зубцова</a:t>
            </a: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, где на глазах командующего фронтом генерал-полковника И. Конева сбил Ю-88 и Ме-109, получив благодарность за отличное ведение схватки.</a:t>
            </a:r>
            <a:endParaRPr lang="ru-RU" sz="16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8" name="Рисунок 7" descr="http://usiter.com/uploads/20120716/harrikejn+samoleti+velikobritanii+tehnika+vtoroj+mirovoj+vojna+97245648946.jpg"/>
          <p:cNvPicPr/>
          <p:nvPr/>
        </p:nvPicPr>
        <p:blipFill>
          <a:blip r:embed="rId2"/>
          <a:srcRect t="19363" b="9069"/>
          <a:stretch>
            <a:fillRect/>
          </a:stretch>
        </p:blipFill>
        <p:spPr bwMode="auto">
          <a:xfrm rot="513085">
            <a:off x="3660305" y="1957579"/>
            <a:ext cx="5153025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 descr="http://domadom.com.ua/i/upload/z/PH207207.jpg"/>
          <p:cNvPicPr/>
          <p:nvPr/>
        </p:nvPicPr>
        <p:blipFill>
          <a:blip r:embed="rId3"/>
          <a:srcRect b="16500"/>
          <a:stretch>
            <a:fillRect/>
          </a:stretch>
        </p:blipFill>
        <p:spPr bwMode="auto">
          <a:xfrm>
            <a:off x="5715008" y="142852"/>
            <a:ext cx="3428992" cy="18954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Рисунок 9" descr="http://www.aviamodel.com/files/27ab5fb9893bc3c40f4bc643b3695154.jpg"/>
          <p:cNvPicPr/>
          <p:nvPr/>
        </p:nvPicPr>
        <p:blipFill>
          <a:blip r:embed="rId4"/>
          <a:srcRect l="12889" t="10651" r="8000" b="27515"/>
          <a:stretch>
            <a:fillRect/>
          </a:stretch>
        </p:blipFill>
        <p:spPr bwMode="auto">
          <a:xfrm>
            <a:off x="3286116" y="4714884"/>
            <a:ext cx="3390900" cy="19907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/>
          <p:cNvSpPr txBox="1"/>
          <p:nvPr/>
        </p:nvSpPr>
        <p:spPr>
          <a:xfrm>
            <a:off x="4214810" y="428604"/>
            <a:ext cx="157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Monotype Corsiva" pitchFamily="66" charset="0"/>
              </a:rPr>
              <a:t>Самолет «</a:t>
            </a:r>
            <a:r>
              <a:rPr lang="ru-RU" dirty="0" err="1" smtClean="0">
                <a:latin typeface="Monotype Corsiva" pitchFamily="66" charset="0"/>
              </a:rPr>
              <a:t>Харрикейн</a:t>
            </a:r>
            <a:r>
              <a:rPr lang="ru-RU" dirty="0" smtClean="0">
                <a:latin typeface="Monotype Corsiva" pitchFamily="66" charset="0"/>
              </a:rPr>
              <a:t>»</a:t>
            </a:r>
            <a:endParaRPr lang="ru-RU" dirty="0">
              <a:latin typeface="Monotype Corsiva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86578" y="5715016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Monotype Corsiva" pitchFamily="66" charset="0"/>
              </a:rPr>
              <a:t>Самолет Як-7б</a:t>
            </a:r>
            <a:endParaRPr lang="ru-RU" dirty="0">
              <a:latin typeface="Monotype Corsiva" pitchFamily="66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Cambria Math" pitchFamily="18" charset="0"/>
                <a:ea typeface="Cambria Math" pitchFamily="18" charset="0"/>
              </a:rPr>
              <a:t>Из воспоминаний А.Е. Боровых </a:t>
            </a:r>
            <a:endParaRPr lang="ru-RU" sz="32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   </a:t>
            </a:r>
            <a:r>
              <a:rPr lang="ru-RU" sz="2400" dirty="0" smtClean="0">
                <a:latin typeface="Cambria Math" pitchFamily="18" charset="0"/>
                <a:ea typeface="Cambria Math" pitchFamily="18" charset="0"/>
              </a:rPr>
              <a:t> В это время советские летчики осуществляли полеты на самолетах «</a:t>
            </a:r>
            <a:r>
              <a:rPr lang="ru-RU" sz="2400" dirty="0" err="1" smtClean="0">
                <a:latin typeface="Cambria Math" pitchFamily="18" charset="0"/>
                <a:ea typeface="Cambria Math" pitchFamily="18" charset="0"/>
              </a:rPr>
              <a:t>Харрикейн</a:t>
            </a:r>
            <a:r>
              <a:rPr lang="ru-RU" sz="2400" dirty="0" smtClean="0">
                <a:latin typeface="Cambria Math" pitchFamily="18" charset="0"/>
                <a:ea typeface="Cambria Math" pitchFamily="18" charset="0"/>
              </a:rPr>
              <a:t>», Як-7б,которые  по техническим характеристикам уступали немецким, но: «летчик должен не только в совершенстве владеть самолетом, но и обладать военной хитростью. Знания, помноженные на военную хитрость, — в этом успех боя, ключ к победе над самым сильным и коварным врагом».</a:t>
            </a:r>
            <a:endParaRPr lang="ru-RU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ru-RU" dirty="0">
              <a:latin typeface="Monotype Corsiva" pitchFamily="66" charset="0"/>
            </a:endParaRPr>
          </a:p>
        </p:txBody>
      </p:sp>
      <p:pic>
        <p:nvPicPr>
          <p:cNvPr id="4" name="Picture 4" descr="https://s.instela.com/m/pasifik-harekati--i3110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46" y="4357694"/>
            <a:ext cx="2619340" cy="18368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2" descr="http://www.bragazeta.ru/upload/news/1440965240923430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4714884"/>
            <a:ext cx="3183650" cy="17859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757610" cy="798496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>
                <a:latin typeface="Cambria Math" pitchFamily="18" charset="0"/>
                <a:ea typeface="Cambria Math" pitchFamily="18" charset="0"/>
              </a:rPr>
              <a:t>Боевой путь</a:t>
            </a:r>
            <a:endParaRPr lang="ru-RU" sz="24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57158" y="1214422"/>
            <a:ext cx="3571900" cy="5357850"/>
          </a:xfrm>
        </p:spPr>
        <p:txBody>
          <a:bodyPr>
            <a:noAutofit/>
          </a:bodyPr>
          <a:lstStyle/>
          <a:p>
            <a:pPr algn="ctr"/>
            <a:r>
              <a:rPr lang="ru-RU" sz="1500" dirty="0" smtClean="0">
                <a:latin typeface="Cambria Math" pitchFamily="18" charset="0"/>
                <a:ea typeface="Cambria Math" pitchFamily="18" charset="0"/>
              </a:rPr>
              <a:t>1943 год.</a:t>
            </a:r>
          </a:p>
          <a:p>
            <a:r>
              <a:rPr lang="ru-RU" sz="1500" dirty="0" smtClean="0">
                <a:latin typeface="Cambria Math" pitchFamily="18" charset="0"/>
                <a:ea typeface="Cambria Math" pitchFamily="18" charset="0"/>
              </a:rPr>
              <a:t>Участник воздушных боев за город Курск</a:t>
            </a:r>
          </a:p>
          <a:p>
            <a:r>
              <a:rPr lang="ru-RU" sz="1500" dirty="0" smtClean="0">
                <a:latin typeface="Cambria Math" pitchFamily="18" charset="0"/>
                <a:ea typeface="Cambria Math" pitchFamily="18" charset="0"/>
              </a:rPr>
              <a:t>Из воспоминаний : «Воздушные бои над Курском, участником которых мне довелось быть, начались задолго до исторического Курского сражения. Уже в апреле - мае 1943 года их напряжённость достигла необычайной силы. Помню, лётчикам нашего 157-го истребительного авиационного полка в иные дни приходилось совершать по 5 - 6 боевых вылетов. Но все с честью выдерживали эту нагрузку, а многие дрались отважно и дерзко… Конечно, мне было приятно, что каждый подчинённый отдавал себя целиком творчеству боя, но вдвойне приятно, что дрались мы за освобождение моего родного города».</a:t>
            </a:r>
            <a:endParaRPr lang="ru-RU" sz="15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5" name="Picture 2" descr="http://s018.radikal.ru/i504/1203/7d/7f0ce0b52302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628" y="428604"/>
            <a:ext cx="3257540" cy="1857815"/>
          </a:xfrm>
          <a:prstGeom prst="rect">
            <a:avLst/>
          </a:prstGeom>
          <a:noFill/>
        </p:spPr>
      </p:pic>
      <p:pic>
        <p:nvPicPr>
          <p:cNvPr id="12290" name="Picture 2" descr="http://vrnfot.ru/wp-content/uploads/vzorvannyj-vokzal-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2571744"/>
            <a:ext cx="3476596" cy="2146798"/>
          </a:xfrm>
          <a:prstGeom prst="rect">
            <a:avLst/>
          </a:prstGeom>
          <a:noFill/>
        </p:spPr>
      </p:pic>
      <p:pic>
        <p:nvPicPr>
          <p:cNvPr id="12292" name="Picture 4" descr="http://www.simfion.ru/picok/vokz008b.jpg"/>
          <p:cNvPicPr>
            <a:picLocks noChangeAspect="1" noChangeArrowheads="1"/>
          </p:cNvPicPr>
          <p:nvPr/>
        </p:nvPicPr>
        <p:blipFill>
          <a:blip r:embed="rId4"/>
          <a:srcRect l="13214" t="34411" b="7129"/>
          <a:stretch>
            <a:fillRect/>
          </a:stretch>
        </p:blipFill>
        <p:spPr bwMode="auto">
          <a:xfrm>
            <a:off x="5715008" y="5072074"/>
            <a:ext cx="3000396" cy="1354151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Cambria Math" pitchFamily="18" charset="0"/>
                <a:ea typeface="Cambria Math" pitchFamily="18" charset="0"/>
              </a:rPr>
              <a:t>Боевой путь</a:t>
            </a:r>
            <a:endParaRPr lang="ru-RU" sz="40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Участвовал в Курской битве, Орловской,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Черниговско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-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Припятской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, </a:t>
            </a:r>
          </a:p>
          <a:p>
            <a:pPr>
              <a:buNone/>
            </a:pP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Гомельско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-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Речицкой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,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Люблин-Брестской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,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Варшавско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- </a:t>
            </a:r>
          </a:p>
          <a:p>
            <a:pPr>
              <a:buNone/>
            </a:pP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Познанской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, Восточно-Померанской, Берлинской операциях.</a:t>
            </a:r>
          </a:p>
          <a:p>
            <a:pPr>
              <a:buNone/>
            </a:pPr>
            <a:endParaRPr lang="ru-RU" sz="20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Воевал на </a:t>
            </a:r>
            <a:r>
              <a:rPr lang="ru-RU" sz="2000" dirty="0" err="1" smtClean="0">
                <a:latin typeface="Cambria Math" pitchFamily="18" charset="0"/>
                <a:ea typeface="Cambria Math" pitchFamily="18" charset="0"/>
              </a:rPr>
              <a:t>Северо</a:t>
            </a: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- Западном (декабрь 1941-январь 1942), </a:t>
            </a:r>
          </a:p>
          <a:p>
            <a:pPr>
              <a:buNone/>
            </a:pP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Калининском (январь 1942- март 1943), Центральном (май- октябрь</a:t>
            </a:r>
          </a:p>
          <a:p>
            <a:pPr>
              <a:buNone/>
            </a:pP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1943), Белорусском (октябрь 1942- февраль 1944) и 1-ом </a:t>
            </a:r>
          </a:p>
          <a:p>
            <a:pPr>
              <a:buNone/>
            </a:pP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Белорусском (февраль 1944- май 1945) фронтах.</a:t>
            </a:r>
          </a:p>
          <a:p>
            <a:pPr>
              <a:buNone/>
            </a:pPr>
            <a:r>
              <a:rPr lang="ru-RU" sz="2000" dirty="0" smtClean="0">
                <a:latin typeface="Cambria Math" pitchFamily="18" charset="0"/>
                <a:ea typeface="Cambria Math" pitchFamily="18" charset="0"/>
              </a:rPr>
              <a:t> </a:t>
            </a:r>
          </a:p>
          <a:p>
            <a:pPr>
              <a:buNone/>
            </a:pPr>
            <a:endParaRPr lang="ru-RU" sz="2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ru-RU" sz="2400" dirty="0" smtClean="0">
              <a:latin typeface="Monotype Corsiva" pitchFamily="66" charset="0"/>
            </a:endParaRPr>
          </a:p>
          <a:p>
            <a:pPr>
              <a:buNone/>
            </a:pPr>
            <a:endParaRPr lang="ru-RU" sz="1800" dirty="0">
              <a:latin typeface="Monotype Corsiva" pitchFamily="66" charset="0"/>
            </a:endParaRPr>
          </a:p>
        </p:txBody>
      </p:sp>
      <p:pic>
        <p:nvPicPr>
          <p:cNvPr id="9" name="Picture 4" descr="http://22-91.ru/upload/images/photo/87/f3/530d0896e26416928176aabbe0b0140549417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4857760"/>
            <a:ext cx="3507742" cy="18240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8" descr="http://billionnews.ru/uploads/posts/2013-05/1368092229_67.jpg"/>
          <p:cNvPicPr>
            <a:picLocks noChangeAspect="1" noChangeArrowheads="1"/>
          </p:cNvPicPr>
          <p:nvPr/>
        </p:nvPicPr>
        <p:blipFill>
          <a:blip r:embed="rId3"/>
          <a:srcRect t="8982" r="3730" b="31198"/>
          <a:stretch>
            <a:fillRect/>
          </a:stretch>
        </p:blipFill>
        <p:spPr bwMode="auto">
          <a:xfrm>
            <a:off x="5500694" y="4572008"/>
            <a:ext cx="3071834" cy="12144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Награды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8597" y="1400466"/>
            <a:ext cx="4000528" cy="5209282"/>
          </a:xfrm>
          <a:prstGeom prst="rect">
            <a:avLst/>
          </a:prstGeom>
          <a:ln w="127000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1428736"/>
            <a:ext cx="3979849" cy="5214974"/>
          </a:xfrm>
          <a:prstGeom prst="rect">
            <a:avLst/>
          </a:prstGeom>
          <a:ln w="127000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1472" y="1500174"/>
            <a:ext cx="4143404" cy="5072074"/>
          </a:xfrm>
          <a:prstGeom prst="rect">
            <a:avLst/>
          </a:prstGeom>
          <a:ln w="127000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642918"/>
            <a:ext cx="3919044" cy="5294312"/>
          </a:xfrm>
          <a:prstGeom prst="rect">
            <a:avLst/>
          </a:prstGeom>
          <a:ln w="127000" cap="sq">
            <a:solidFill>
              <a:schemeClr val="accent2">
                <a:lumMod val="75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 материалов прессы времён ВОВ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785794"/>
            <a:ext cx="6721067" cy="5431165"/>
          </a:xfrm>
          <a:prstGeom prst="rect">
            <a:avLst/>
          </a:prstGeom>
          <a:ln w="88900" cap="sq" cmpd="thickThin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57554" y="714356"/>
            <a:ext cx="55721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Cambria Math" pitchFamily="18" charset="0"/>
                <a:ea typeface="Cambria Math" pitchFamily="18" charset="0"/>
              </a:rPr>
              <a:t>Указом Президиума Верховного Совета СССР от 23 февраля 1945 года Боровых А.Е.удостоен звания дважды Героя Советского Союза с вручением второй медали "Золотая Звезда" (№ 62/II).</a:t>
            </a:r>
            <a:endParaRPr lang="ru-RU" sz="24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3" name="Picture 14" descr="786px-Golden_Star_medal_47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0" y="3643314"/>
            <a:ext cx="3214678" cy="2454232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/>
          <a:srcRect l="57532" t="55305" r="20871" b="5800"/>
          <a:stretch>
            <a:fillRect/>
          </a:stretch>
        </p:blipFill>
        <p:spPr bwMode="auto">
          <a:xfrm>
            <a:off x="714348" y="1857364"/>
            <a:ext cx="2305050" cy="32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decel="50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0" decel="50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3108" y="1214422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2071670" y="1142984"/>
            <a:ext cx="528641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itchFamily="18" charset="0"/>
                <a:ea typeface="Cambria Math" pitchFamily="18" charset="0"/>
                <a:cs typeface="Arial" pitchFamily="34" charset="0"/>
              </a:rPr>
              <a:t>Награжден двумя орденами Ленина, пятью орденами Красного Знамени, орденами Александра Невского, Отечественной войны 1-й ст., тремя орденами Красной Звезды, орденом «За службу Родине в ВС СССР» 3й ст., медалями.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4" name="Picture 15" descr="150px-Order_of_Red_Bann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857364"/>
            <a:ext cx="1751790" cy="1946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11" descr="150px-Order_For_Service_to_the_Homeland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4214818"/>
            <a:ext cx="1944687" cy="2160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12" descr="150px-Order_of_Leni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86644" y="325248"/>
            <a:ext cx="1722300" cy="2675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 descr="http://ay-company.ru/wp-content/uploads/2016/05/orden-nevskogo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5074" y="3571876"/>
            <a:ext cx="2568574" cy="2534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 descr="http://moypolk.ru/sites/default/files/soldier-awards/231502/ordena_otechestvennoy_voyny_1-y_stepeni.jpg"/>
          <p:cNvPicPr/>
          <p:nvPr/>
        </p:nvPicPr>
        <p:blipFill>
          <a:blip r:embed="rId6"/>
          <a:srcRect l="21005" t="23291" r="26082" b="3205"/>
          <a:stretch>
            <a:fillRect/>
          </a:stretch>
        </p:blipFill>
        <p:spPr bwMode="auto">
          <a:xfrm>
            <a:off x="642910" y="3929066"/>
            <a:ext cx="2214578" cy="2500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600" decel="50000" autoRev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600" decel="100000" autoRev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600" decel="100000" autoRev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Cambria Math" pitchFamily="18" charset="0"/>
                <a:ea typeface="Cambria Math" pitchFamily="18" charset="0"/>
              </a:rPr>
              <a:t>Послевоенные годы</a:t>
            </a:r>
            <a:endParaRPr lang="ru-RU" sz="36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После войны до июня 1946 года – заместитель командира 157-го истребительного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авиационного полка по летной части (в Группе советских войск в Германии, город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Дрезден).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Июнь- декабрь 1946 года- командир 233-го истребительного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авиационного полка по летной части (в Группе советских войск в Германии, город </a:t>
            </a:r>
          </a:p>
          <a:p>
            <a:pPr>
              <a:buNone/>
            </a:pPr>
            <a:r>
              <a:rPr lang="ru-RU" sz="1600" dirty="0" err="1" smtClean="0">
                <a:latin typeface="Cambria Math" pitchFamily="18" charset="0"/>
                <a:ea typeface="Cambria Math" pitchFamily="18" charset="0"/>
              </a:rPr>
              <a:t>Перлеберг</a:t>
            </a: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).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1951 году окончил Военно-Воздушную академию (Монино).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марте 1952- ноябре 1955- командир 98-й гвардейской истребительной авиационной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дивизии ПОВ.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1957 году окончил Высшую военную академию(Военную академию Генерального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штаба).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ноябре 1957-</a:t>
            </a:r>
            <a:r>
              <a:rPr lang="en-US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октябре 1958 – командир 88-го истребительного авиационного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корпуса ПВО.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С 1958– 1-й заместитель командующего, а в августе 1959- мае 1960- командующий 52-</a:t>
            </a:r>
          </a:p>
          <a:p>
            <a:pPr>
              <a:buNone/>
            </a:pPr>
            <a:r>
              <a:rPr lang="ru-RU" sz="1600" dirty="0" err="1" smtClean="0">
                <a:latin typeface="Cambria Math" pitchFamily="18" charset="0"/>
                <a:ea typeface="Cambria Math" pitchFamily="18" charset="0"/>
              </a:rPr>
              <a:t>й</a:t>
            </a: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 воздушно истребительной армией. </a:t>
            </a:r>
          </a:p>
          <a:p>
            <a:pPr>
              <a:buNone/>
            </a:pPr>
            <a:endParaRPr lang="ru-RU" sz="1600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Послевоенные годы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мае 1960-август 1963- командующий авиацией Московского округа ПВО.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августе 1963-июле1968- командующий 11-й отдельной армией ПВО.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июле 1968-август 1969- командующий 8-й отдельной армией ПВО.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августе 1969-апрель 1977- командующий авиацией ПВО страны.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В 1977-1988- военный консультант Института военной истории Министерства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обороны СССР.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С апреля 1988 года генерал- полковник  авиации А.Е. Боровых – в отставке.</a:t>
            </a:r>
          </a:p>
          <a:p>
            <a:pPr>
              <a:buNone/>
            </a:pPr>
            <a:endParaRPr lang="ru-RU" sz="16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Депутат Верховного Совета СССР 2-го созыва (1946-1950) и РСФСР 4-го созыва(1955-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1959).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Автор научных статей «Будь отличником, классным специалистом»(1963), «Новая </a:t>
            </a: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техника, оружие и человек»(1972), «Надежный щит Родины» (1985).</a:t>
            </a:r>
          </a:p>
          <a:p>
            <a:pPr>
              <a:buNone/>
            </a:pPr>
            <a:endParaRPr lang="ru-RU" sz="16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Жил в Москве. Трагически погиб 7 ноября 1989 года(убит хулиганами).</a:t>
            </a:r>
            <a:endParaRPr lang="ru-RU" sz="1600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85720" y="1928803"/>
            <a:ext cx="40719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Могила Боровых  А.Е.</a:t>
            </a:r>
          </a:p>
          <a:p>
            <a:r>
              <a:rPr lang="ru-RU" sz="28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на Новодевичьем кладбище Москвы.</a:t>
            </a:r>
            <a:endParaRPr lang="ru-RU" sz="2800" dirty="0">
              <a:solidFill>
                <a:srgbClr val="FF0000"/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0242" name="Picture 2" descr="Надгробный памятник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285728"/>
            <a:ext cx="4382702" cy="5843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Аллея Героев в Чугуеве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857364"/>
            <a:ext cx="6215106" cy="42862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Прямоугольник 2"/>
          <p:cNvSpPr/>
          <p:nvPr/>
        </p:nvSpPr>
        <p:spPr>
          <a:xfrm>
            <a:off x="2357422" y="571480"/>
            <a:ext cx="50006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Аллея Героев в Чугуеве</a:t>
            </a:r>
          </a:p>
          <a:p>
            <a:pPr algn="ctr"/>
            <a:r>
              <a:rPr lang="ru-RU" sz="3200" b="1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(город Харьков)</a:t>
            </a:r>
            <a:endParaRPr lang="ru-RU" sz="3200" dirty="0">
              <a:solidFill>
                <a:srgbClr val="FF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8662" y="1142984"/>
            <a:ext cx="3286148" cy="49086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Прямоугольник 2"/>
          <p:cNvSpPr/>
          <p:nvPr/>
        </p:nvSpPr>
        <p:spPr>
          <a:xfrm>
            <a:off x="4643438" y="785794"/>
            <a:ext cx="342902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Бронзовый бюст Боровых А.Е. установлен на родине - в городе  Курске - в Первомайском Парке. Скульптор В. Ефимов- Трофимов, архитектор В. </a:t>
            </a:r>
            <a:r>
              <a:rPr lang="ru-RU" sz="2400" dirty="0" err="1" smtClean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Новак</a:t>
            </a:r>
            <a:r>
              <a:rPr lang="ru-RU" sz="2400" dirty="0" smtClean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 . </a:t>
            </a:r>
          </a:p>
          <a:p>
            <a:r>
              <a:rPr lang="ru-RU" sz="2400" dirty="0" smtClean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Открыт 18 июля 1948 году.</a:t>
            </a:r>
            <a:endParaRPr lang="ru-RU" sz="2400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Содержимое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5720" y="1714488"/>
            <a:ext cx="5801784" cy="43513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Прямоугольник 2"/>
          <p:cNvSpPr/>
          <p:nvPr/>
        </p:nvSpPr>
        <p:spPr>
          <a:xfrm>
            <a:off x="2286000" y="571481"/>
            <a:ext cx="57150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Боровых А.Е.- Почетный гражданин города Курска. </a:t>
            </a:r>
            <a:endParaRPr lang="ru-RU" sz="3200" dirty="0">
              <a:solidFill>
                <a:srgbClr val="FF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286512" y="2143116"/>
            <a:ext cx="27146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Monotype Corsiva" pitchFamily="66" charset="0"/>
              </a:rPr>
              <a:t>Звание «Почетный гражданин города Курска» присвоено в 1988 году за мужество и героизм, проявленные в борьбе с немецко-фашистскими захватчиками в период Великой Отечественной войны.</a:t>
            </a:r>
            <a:endParaRPr lang="ru-RU" sz="2000" dirty="0">
              <a:latin typeface="Monotype Corsiva" pitchFamily="66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/>
          </a:blip>
          <a:srcRect/>
          <a:stretch>
            <a:fillRect/>
          </a:stretch>
        </p:blipFill>
        <p:spPr>
          <a:xfrm>
            <a:off x="857224" y="1643050"/>
            <a:ext cx="6000792" cy="46378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2928926" y="500042"/>
            <a:ext cx="5143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Улица дважды Героя Советского Союза Боровых А.Е. в городе Курске. Наименование присвоено 28 ноября 1991 года.</a:t>
            </a:r>
            <a:endParaRPr lang="ru-RU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chemeClr val="accent2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Боровых А.Е-</a:t>
            </a:r>
            <a:br>
              <a:rPr lang="ru-RU" sz="4000" dirty="0" smtClean="0">
                <a:solidFill>
                  <a:schemeClr val="accent2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</a:br>
            <a:r>
              <a:rPr lang="ru-RU" sz="4000" dirty="0" smtClean="0">
                <a:solidFill>
                  <a:schemeClr val="accent2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 великий военный России</a:t>
            </a:r>
            <a:endParaRPr lang="ru-RU" sz="4000" dirty="0">
              <a:solidFill>
                <a:schemeClr val="accent2">
                  <a:lumMod val="50000"/>
                </a:schemeClr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1800" dirty="0" smtClean="0">
                <a:latin typeface="Cambria Math" pitchFamily="18" charset="0"/>
                <a:ea typeface="Cambria Math" pitchFamily="18" charset="0"/>
              </a:rPr>
              <a:t>Андрей Егорович Боровых- великий военный летчик, прошедший всю</a:t>
            </a:r>
          </a:p>
          <a:p>
            <a:pPr>
              <a:buNone/>
            </a:pPr>
            <a:r>
              <a:rPr lang="ru-RU" sz="1800" dirty="0" smtClean="0">
                <a:latin typeface="Cambria Math" pitchFamily="18" charset="0"/>
                <a:ea typeface="Cambria Math" pitchFamily="18" charset="0"/>
              </a:rPr>
              <a:t>Великую Отечественную войну, совершивший около 500 боевых вылетов,</a:t>
            </a:r>
          </a:p>
          <a:p>
            <a:pPr>
              <a:buNone/>
            </a:pPr>
            <a:r>
              <a:rPr lang="ru-RU" sz="1800" dirty="0" smtClean="0">
                <a:latin typeface="Cambria Math" pitchFamily="18" charset="0"/>
                <a:ea typeface="Cambria Math" pitchFamily="18" charset="0"/>
              </a:rPr>
              <a:t>лично сбивший  32 фашистских самолета и еще 14 в групповых боях.</a:t>
            </a:r>
          </a:p>
          <a:p>
            <a:pPr>
              <a:buNone/>
            </a:pPr>
            <a:r>
              <a:rPr lang="ru-RU" sz="1800" dirty="0" smtClean="0">
                <a:latin typeface="Cambria Math" pitchFamily="18" charset="0"/>
                <a:ea typeface="Cambria Math" pitchFamily="18" charset="0"/>
              </a:rPr>
              <a:t>Удостоен звания дважды Героя Советского Союза.</a:t>
            </a:r>
          </a:p>
          <a:p>
            <a:pPr>
              <a:buNone/>
            </a:pPr>
            <a:r>
              <a:rPr lang="ru-RU" sz="1800" dirty="0" smtClean="0">
                <a:latin typeface="Cambria Math" pitchFamily="18" charset="0"/>
                <a:ea typeface="Cambria Math" pitchFamily="18" charset="0"/>
              </a:rPr>
              <a:t>Это великий ас, отличавшийся высокой техникой пилотирования, отличной</a:t>
            </a:r>
          </a:p>
          <a:p>
            <a:pPr>
              <a:buNone/>
            </a:pPr>
            <a:r>
              <a:rPr lang="ru-RU" sz="1800" dirty="0" smtClean="0">
                <a:latin typeface="Cambria Math" pitchFamily="18" charset="0"/>
                <a:ea typeface="Cambria Math" pitchFamily="18" charset="0"/>
              </a:rPr>
              <a:t>тактической подготовкой, творчеством, инициативой и несгибаемой волей к</a:t>
            </a:r>
          </a:p>
          <a:p>
            <a:pPr>
              <a:buNone/>
            </a:pPr>
            <a:r>
              <a:rPr lang="ru-RU" sz="1800" dirty="0" smtClean="0">
                <a:latin typeface="Cambria Math" pitchFamily="18" charset="0"/>
                <a:ea typeface="Cambria Math" pitchFamily="18" charset="0"/>
              </a:rPr>
              <a:t>победе. Человек, до конца жизни остававшийся верен своей профессии.</a:t>
            </a:r>
            <a:endParaRPr lang="ru-RU" sz="18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5" name="Рисунок 4" descr="http://img1.liveinternet.ru/images/attach/c/1/50/493/50493235_Borovyh_A_E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4071942"/>
            <a:ext cx="1928826" cy="2571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57223" y="2967335"/>
            <a:ext cx="77867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Спасибо за внимание!</a:t>
            </a:r>
            <a:endParaRPr lang="ru-RU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55576" y="1142984"/>
            <a:ext cx="82809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1.Орден с лентой</a:t>
            </a:r>
          </a:p>
          <a:p>
            <a:r>
              <a:rPr lang="en-US" dirty="0" smtClean="0">
                <a:hlinkClick r:id="rId2"/>
              </a:rPr>
              <a:t>http://cap.ru/UserFiles/orgs/GrvId_67/pobeda2.jpg</a:t>
            </a:r>
            <a:endParaRPr lang="ru-RU" dirty="0" smtClean="0"/>
          </a:p>
          <a:p>
            <a:r>
              <a:rPr lang="ru-RU" dirty="0" smtClean="0"/>
              <a:t>2.Георгиевская лента</a:t>
            </a:r>
          </a:p>
          <a:p>
            <a:r>
              <a:rPr lang="en-US" dirty="0" smtClean="0">
                <a:hlinkClick r:id="rId3"/>
              </a:rPr>
              <a:t>http://s020.radikal.ru/i710/1302/97/5836754b33a3.png</a:t>
            </a:r>
            <a:endParaRPr lang="ru-RU" dirty="0" smtClean="0"/>
          </a:p>
          <a:p>
            <a:r>
              <a:rPr lang="ru-RU" dirty="0" smtClean="0"/>
              <a:t>3.Фон</a:t>
            </a:r>
          </a:p>
          <a:p>
            <a:r>
              <a:rPr lang="en-US" dirty="0" smtClean="0">
                <a:hlinkClick r:id="rId4"/>
              </a:rPr>
              <a:t>http://img-fotki.yandex.ru/get/9745/97761520.1fa/0_84980_437031ed_L.jpg</a:t>
            </a:r>
            <a:endParaRPr lang="ru-RU" dirty="0" smtClean="0"/>
          </a:p>
          <a:p>
            <a:endParaRPr lang="ru-RU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347864" y="5517232"/>
            <a:ext cx="2533927" cy="461665"/>
          </a:xfrm>
          <a:prstGeom prst="rect">
            <a:avLst/>
          </a:prstGeom>
          <a:solidFill>
            <a:srgbClr val="FFFFDD">
              <a:alpha val="43137"/>
            </a:srgbClr>
          </a:solidFill>
          <a:effectLst>
            <a:softEdge rad="317500"/>
          </a:effectLst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400" b="1" i="1">
                <a:solidFill>
                  <a:srgbClr val="002060"/>
                </a:solidFill>
              </a:defRPr>
            </a:lvl1pPr>
          </a:lstStyle>
          <a:p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 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43240" y="357166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Источники иллюстраций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043662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Источники текстовой информации</a:t>
            </a:r>
            <a:endParaRPr lang="ru-RU" sz="2800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1800" dirty="0" smtClean="0">
                <a:latin typeface="Monotype Corsiva" pitchFamily="66" charset="0"/>
              </a:rPr>
              <a:t> </a:t>
            </a:r>
          </a:p>
          <a:p>
            <a:pPr>
              <a:buNone/>
            </a:pPr>
            <a:r>
              <a:rPr lang="ru-RU" sz="1400" u="sng" dirty="0" smtClean="0">
                <a:latin typeface="Cambria Math" pitchFamily="18" charset="0"/>
                <a:ea typeface="Cambria Math" pitchFamily="18" charset="0"/>
                <a:hlinkClick r:id="rId2"/>
              </a:rPr>
              <a:t>1. http://airaces.narod.ru/all1/borovyh.htm</a:t>
            </a:r>
            <a:endParaRPr lang="ru-RU" sz="1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ru-RU" sz="1400" dirty="0" smtClean="0">
                <a:latin typeface="Cambria Math" pitchFamily="18" charset="0"/>
                <a:ea typeface="Cambria Math" pitchFamily="18" charset="0"/>
              </a:rPr>
              <a:t>                                  </a:t>
            </a:r>
          </a:p>
          <a:p>
            <a:pPr>
              <a:buNone/>
            </a:pPr>
            <a:r>
              <a:rPr lang="ru-RU" sz="1400" u="sng" dirty="0" smtClean="0">
                <a:latin typeface="Cambria Math" pitchFamily="18" charset="0"/>
                <a:ea typeface="Cambria Math" pitchFamily="18" charset="0"/>
                <a:hlinkClick r:id="rId3"/>
              </a:rPr>
              <a:t>2.http://www.warheroes.ru/hero/hero.asp?Hero_id=253</a:t>
            </a:r>
            <a:endParaRPr lang="ru-RU" sz="1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ru-RU" sz="1400" dirty="0" smtClean="0">
                <a:latin typeface="Cambria Math" pitchFamily="18" charset="0"/>
                <a:ea typeface="Cambria Math" pitchFamily="18" charset="0"/>
              </a:rPr>
              <a:t>                               </a:t>
            </a:r>
          </a:p>
          <a:p>
            <a:pPr>
              <a:buNone/>
            </a:pPr>
            <a:r>
              <a:rPr lang="ru-RU" sz="1400" u="sng" dirty="0" smtClean="0">
                <a:latin typeface="Cambria Math" pitchFamily="18" charset="0"/>
                <a:ea typeface="Cambria Math" pitchFamily="18" charset="0"/>
                <a:hlinkClick r:id="rId4"/>
              </a:rPr>
              <a:t>3.http://kot-or-osl.livejournal.com/236386.html</a:t>
            </a:r>
            <a:endParaRPr lang="ru-RU" sz="1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endParaRPr lang="ru-RU" sz="1400" dirty="0" smtClean="0">
              <a:latin typeface="Cambria Math" pitchFamily="18" charset="0"/>
              <a:ea typeface="Cambria Math" pitchFamily="18" charset="0"/>
            </a:endParaRPr>
          </a:p>
          <a:p>
            <a:pPr>
              <a:buNone/>
            </a:pPr>
            <a:r>
              <a:rPr lang="ru-RU" sz="1200" dirty="0" smtClean="0">
                <a:latin typeface="Cambria Math" pitchFamily="18" charset="0"/>
                <a:ea typeface="Cambria Math" pitchFamily="18" charset="0"/>
              </a:rPr>
              <a:t>4.</a:t>
            </a:r>
            <a:r>
              <a:rPr lang="ru-RU" sz="16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ru-RU" sz="1400" dirty="0" smtClean="0">
                <a:latin typeface="Cambria Math" pitchFamily="18" charset="0"/>
                <a:ea typeface="Cambria Math" pitchFamily="18" charset="0"/>
              </a:rPr>
              <a:t>Курск. Краеведческий словарь- справочник.  Курск, 1997 г.</a:t>
            </a:r>
          </a:p>
          <a:p>
            <a:pPr>
              <a:buNone/>
            </a:pPr>
            <a:endParaRPr lang="ru-RU" sz="1100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1079</Words>
  <Application>Microsoft Office PowerPoint</Application>
  <PresentationFormat>Экран (4:3)</PresentationFormat>
  <Paragraphs>127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Arial</vt:lpstr>
      <vt:lpstr>Arial Narrow</vt:lpstr>
      <vt:lpstr>Calibri</vt:lpstr>
      <vt:lpstr>Cambria</vt:lpstr>
      <vt:lpstr>Cambria Math</vt:lpstr>
      <vt:lpstr>Microsoft Himalaya</vt:lpstr>
      <vt:lpstr>Monotype Corsiva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Боевой путь</vt:lpstr>
      <vt:lpstr>Боевой путь</vt:lpstr>
      <vt:lpstr>Из воспоминаний А.Е. Боровых </vt:lpstr>
      <vt:lpstr>Боевой путь</vt:lpstr>
      <vt:lpstr>Боевой путь</vt:lpstr>
      <vt:lpstr>Награды</vt:lpstr>
      <vt:lpstr>Презентация PowerPoint</vt:lpstr>
      <vt:lpstr>Презентация PowerPoint</vt:lpstr>
      <vt:lpstr>Презентация PowerPoint</vt:lpstr>
      <vt:lpstr>Презентация PowerPoint</vt:lpstr>
      <vt:lpstr>Послевоенные годы</vt:lpstr>
      <vt:lpstr>Послевоенные годы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Боровых А.Е-  великий военный России</vt:lpstr>
      <vt:lpstr>Презентация PowerPoint</vt:lpstr>
      <vt:lpstr>Презентация PowerPoint</vt:lpstr>
      <vt:lpstr>Источники текстовой информации</vt:lpstr>
    </vt:vector>
  </TitlesOfParts>
  <Company>Интернат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user1</dc:creator>
  <cp:lastModifiedBy>ЛИЗА</cp:lastModifiedBy>
  <cp:revision>57</cp:revision>
  <dcterms:created xsi:type="dcterms:W3CDTF">2015-02-17T08:35:42Z</dcterms:created>
  <dcterms:modified xsi:type="dcterms:W3CDTF">2020-03-26T14:11:24Z</dcterms:modified>
</cp:coreProperties>
</file>